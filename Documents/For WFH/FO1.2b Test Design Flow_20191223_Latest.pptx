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29"/>
  </p:notesMasterIdLst>
  <p:sldIdLst>
    <p:sldId id="497" r:id="rId5"/>
    <p:sldId id="546" r:id="rId6"/>
    <p:sldId id="547" r:id="rId7"/>
    <p:sldId id="552" r:id="rId8"/>
    <p:sldId id="553" r:id="rId9"/>
    <p:sldId id="554" r:id="rId10"/>
    <p:sldId id="555" r:id="rId11"/>
    <p:sldId id="548" r:id="rId12"/>
    <p:sldId id="549" r:id="rId13"/>
    <p:sldId id="550" r:id="rId14"/>
    <p:sldId id="551" r:id="rId15"/>
    <p:sldId id="563" r:id="rId16"/>
    <p:sldId id="557" r:id="rId17"/>
    <p:sldId id="558" r:id="rId18"/>
    <p:sldId id="559" r:id="rId19"/>
    <p:sldId id="564" r:id="rId20"/>
    <p:sldId id="565" r:id="rId21"/>
    <p:sldId id="566" r:id="rId22"/>
    <p:sldId id="567" r:id="rId23"/>
    <p:sldId id="560" r:id="rId24"/>
    <p:sldId id="568" r:id="rId25"/>
    <p:sldId id="569" r:id="rId26"/>
    <p:sldId id="561" r:id="rId27"/>
    <p:sldId id="556" r:id="rId28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KJC" initials="H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EEF"/>
    <a:srgbClr val="DCE6F2"/>
    <a:srgbClr val="CCC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6" autoAdjust="0"/>
    <p:restoredTop sz="93784" autoAdjust="0"/>
  </p:normalViewPr>
  <p:slideViewPr>
    <p:cSldViewPr snapToGrid="0">
      <p:cViewPr>
        <p:scale>
          <a:sx n="75" d="100"/>
          <a:sy n="75" d="100"/>
        </p:scale>
        <p:origin x="2232" y="990"/>
      </p:cViewPr>
      <p:guideLst>
        <p:guide orient="horz" pos="23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8B73A-F347-4693-8272-7BABDE720C6D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CF8DB1-7EF6-482B-A22C-3AA6FE9DA8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380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38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13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236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16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1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99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82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963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29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84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7880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/>
          <p:cNvSpPr txBox="1">
            <a:spLocks noChangeArrowheads="1"/>
          </p:cNvSpPr>
          <p:nvPr/>
        </p:nvSpPr>
        <p:spPr bwMode="auto">
          <a:xfrm>
            <a:off x="8777537" y="6605589"/>
            <a:ext cx="3170155" cy="2809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8" tIns="47884" rIns="95768" bIns="47884">
            <a:spAutoFit/>
          </a:bodyPr>
          <a:lstStyle>
            <a:lvl1pPr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37931725" indent="-37474525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r" defTabSz="478840">
              <a:spcBef>
                <a:spcPct val="50000"/>
              </a:spcBef>
              <a:defRPr/>
            </a:pPr>
            <a:r>
              <a:rPr lang="en-US" sz="1200" dirty="0">
                <a:solidFill>
                  <a:srgbClr val="CD0920"/>
                </a:solidFill>
                <a:latin typeface="+mn-lt"/>
                <a:ea typeface="新細明體" charset="0"/>
                <a:cs typeface="新細明體" charset="0"/>
              </a:rPr>
              <a:t>CONFIDENTIAL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0" y="6584951"/>
            <a:ext cx="4307658" cy="307975"/>
          </a:xfrm>
          <a:prstGeom prst="rect">
            <a:avLst/>
          </a:prstGeom>
          <a:solidFill>
            <a:srgbClr val="19285C"/>
          </a:solidFill>
          <a:ln>
            <a:noFill/>
          </a:ln>
        </p:spPr>
        <p:txBody>
          <a:bodyPr lIns="95768" tIns="47884" rIns="95768" bIns="47884">
            <a:spAutoFit/>
          </a:bodyPr>
          <a:lstStyle>
            <a:lvl1pPr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ctr" defTabSz="47884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1500" dirty="0">
                <a:solidFill>
                  <a:srgbClr val="FFD816"/>
                </a:solidFill>
                <a:latin typeface="Arial"/>
                <a:ea typeface="新細明體" charset="0"/>
                <a:cs typeface="Arial"/>
              </a:rPr>
              <a:t>One Club One Team One Vision</a:t>
            </a:r>
          </a:p>
        </p:txBody>
      </p:sp>
      <p:cxnSp>
        <p:nvCxnSpPr>
          <p:cNvPr id="5" name="直線接點 4"/>
          <p:cNvCxnSpPr/>
          <p:nvPr/>
        </p:nvCxnSpPr>
        <p:spPr>
          <a:xfrm>
            <a:off x="1" y="6583363"/>
            <a:ext cx="12192000" cy="0"/>
          </a:xfrm>
          <a:prstGeom prst="line">
            <a:avLst/>
          </a:prstGeom>
          <a:ln w="3175" cmpd="sng">
            <a:solidFill>
              <a:srgbClr val="2034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6584951"/>
            <a:ext cx="4307658" cy="307975"/>
          </a:xfrm>
          <a:prstGeom prst="rect">
            <a:avLst/>
          </a:prstGeom>
          <a:solidFill>
            <a:srgbClr val="19285C"/>
          </a:solidFill>
          <a:ln>
            <a:noFill/>
          </a:ln>
        </p:spPr>
        <p:txBody>
          <a:bodyPr lIns="95768" tIns="47884" rIns="95768" bIns="47884">
            <a:spAutoFit/>
          </a:bodyPr>
          <a:lstStyle>
            <a:lvl1pPr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ctr" defTabSz="47884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1500" dirty="0">
                <a:solidFill>
                  <a:srgbClr val="FFD816"/>
                </a:solidFill>
                <a:latin typeface="Arial"/>
                <a:ea typeface="新細明體" charset="0"/>
                <a:cs typeface="Arial"/>
              </a:rPr>
              <a:t>One Club One Team One Vision</a:t>
            </a:r>
          </a:p>
        </p:txBody>
      </p:sp>
      <p:cxnSp>
        <p:nvCxnSpPr>
          <p:cNvPr id="8" name="直線接點 4"/>
          <p:cNvCxnSpPr/>
          <p:nvPr/>
        </p:nvCxnSpPr>
        <p:spPr>
          <a:xfrm>
            <a:off x="1" y="6583363"/>
            <a:ext cx="12192000" cy="0"/>
          </a:xfrm>
          <a:prstGeom prst="line">
            <a:avLst/>
          </a:prstGeom>
          <a:ln w="3175" cmpd="sng">
            <a:solidFill>
              <a:srgbClr val="2034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Box 7"/>
          <p:cNvSpPr txBox="1">
            <a:spLocks noChangeArrowheads="1"/>
          </p:cNvSpPr>
          <p:nvPr userDrawn="1"/>
        </p:nvSpPr>
        <p:spPr bwMode="auto">
          <a:xfrm>
            <a:off x="0" y="6584951"/>
            <a:ext cx="4307658" cy="307975"/>
          </a:xfrm>
          <a:prstGeom prst="rect">
            <a:avLst/>
          </a:prstGeom>
          <a:solidFill>
            <a:srgbClr val="19285C"/>
          </a:solidFill>
          <a:ln>
            <a:noFill/>
          </a:ln>
        </p:spPr>
        <p:txBody>
          <a:bodyPr lIns="95768" tIns="47884" rIns="95768" bIns="47884">
            <a:spAutoFit/>
          </a:bodyPr>
          <a:lstStyle>
            <a:lvl1pPr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  <a:lvl2pPr marL="742950" indent="-28575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2pPr>
            <a:lvl3pPr marL="11430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3pPr>
            <a:lvl4pPr marL="16002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4pPr>
            <a:lvl5pPr marL="2057400" indent="-228600"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2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9pPr>
          </a:lstStyle>
          <a:p>
            <a:pPr algn="ctr" defTabSz="478840"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altLang="zh-TW" sz="1500" dirty="0">
                <a:solidFill>
                  <a:srgbClr val="FFD816"/>
                </a:solidFill>
                <a:latin typeface="Arial"/>
                <a:ea typeface="新細明體" charset="0"/>
                <a:cs typeface="Arial"/>
              </a:rPr>
              <a:t>One Club One Team One Vision</a:t>
            </a:r>
          </a:p>
        </p:txBody>
      </p:sp>
      <p:cxnSp>
        <p:nvCxnSpPr>
          <p:cNvPr id="10" name="直線接點 4"/>
          <p:cNvCxnSpPr/>
          <p:nvPr userDrawn="1"/>
        </p:nvCxnSpPr>
        <p:spPr>
          <a:xfrm>
            <a:off x="1" y="6583363"/>
            <a:ext cx="12192000" cy="0"/>
          </a:xfrm>
          <a:prstGeom prst="line">
            <a:avLst/>
          </a:prstGeom>
          <a:ln w="3175" cmpd="sng">
            <a:solidFill>
              <a:srgbClr val="2034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圖片 4" descr="logo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5" y="1660526"/>
            <a:ext cx="5667971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3840798"/>
            <a:ext cx="10972801" cy="731202"/>
          </a:xfrm>
          <a:prstGeom prst="rect">
            <a:avLst/>
          </a:prstGeom>
        </p:spPr>
        <p:txBody>
          <a:bodyPr vert="horz" lIns="95768" tIns="47884" rIns="95768" bIns="47884"/>
          <a:lstStyle>
            <a:lvl1pPr algn="l">
              <a:defRPr sz="3400" b="1">
                <a:solidFill>
                  <a:srgbClr val="20346D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62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samissyim\Desktop\ComLine-0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76" b="8714"/>
          <a:stretch>
            <a:fillRect/>
          </a:stretch>
        </p:blipFill>
        <p:spPr bwMode="auto">
          <a:xfrm>
            <a:off x="-136813" y="6597651"/>
            <a:ext cx="7606807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群組 1"/>
          <p:cNvGrpSpPr>
            <a:grpSpLocks/>
          </p:cNvGrpSpPr>
          <p:nvPr userDrawn="1"/>
        </p:nvGrpSpPr>
        <p:grpSpPr bwMode="auto">
          <a:xfrm>
            <a:off x="1" y="0"/>
            <a:ext cx="12192000" cy="782638"/>
            <a:chOff x="0" y="-142240"/>
            <a:chExt cx="9144000" cy="924471"/>
          </a:xfrm>
        </p:grpSpPr>
        <p:sp>
          <p:nvSpPr>
            <p:cNvPr id="7" name="矩形 2"/>
            <p:cNvSpPr/>
            <p:nvPr userDrawn="1"/>
          </p:nvSpPr>
          <p:spPr>
            <a:xfrm>
              <a:off x="0" y="-142240"/>
              <a:ext cx="9144000" cy="924471"/>
            </a:xfrm>
            <a:prstGeom prst="rect">
              <a:avLst/>
            </a:prstGeom>
            <a:solidFill>
              <a:srgbClr val="0F18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5pPr>
              <a:lvl6pPr marL="2514600" indent="-228600" defTabSz="4778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6pPr>
              <a:lvl7pPr marL="2971800" indent="-228600" defTabSz="4778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7pPr>
              <a:lvl8pPr marL="3429000" indent="-228600" defTabSz="4778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8pPr>
              <a:lvl9pPr marL="3886200" indent="-228600" defTabSz="4778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defRPr/>
              </a:pPr>
              <a:endParaRPr lang="zh-TW" altLang="en-US" sz="1800">
                <a:solidFill>
                  <a:srgbClr val="FFFFFF"/>
                </a:solidFill>
              </a:endParaRPr>
            </a:p>
          </p:txBody>
        </p:sp>
        <p:sp>
          <p:nvSpPr>
            <p:cNvPr id="8" name="矩形 3"/>
            <p:cNvSpPr/>
            <p:nvPr userDrawn="1"/>
          </p:nvSpPr>
          <p:spPr>
            <a:xfrm>
              <a:off x="0" y="737226"/>
              <a:ext cx="9144000" cy="45005"/>
            </a:xfrm>
            <a:prstGeom prst="rect">
              <a:avLst/>
            </a:prstGeom>
            <a:solidFill>
              <a:srgbClr val="FFD8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5pPr>
              <a:lvl6pPr marL="2514600" indent="-228600" defTabSz="4778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6pPr>
              <a:lvl7pPr marL="2971800" indent="-228600" defTabSz="4778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7pPr>
              <a:lvl8pPr marL="3429000" indent="-228600" defTabSz="4778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8pPr>
              <a:lvl9pPr marL="3886200" indent="-228600" defTabSz="477838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alibri" pitchFamily="34" charset="0"/>
                  <a:ea typeface="新細明體" pitchFamily="18" charset="-120"/>
                </a:defRPr>
              </a:lvl9pPr>
            </a:lstStyle>
            <a:p>
              <a:pPr algn="ctr" eaLnBrk="1" hangingPunct="1">
                <a:defRPr/>
              </a:pPr>
              <a:endParaRPr lang="zh-TW" altLang="en-US" sz="1800">
                <a:solidFill>
                  <a:srgbClr val="FFFFFF"/>
                </a:solidFill>
              </a:endParaRPr>
            </a:p>
          </p:txBody>
        </p:sp>
      </p:grpSp>
      <p:cxnSp>
        <p:nvCxnSpPr>
          <p:cNvPr id="9" name="直線接點 6"/>
          <p:cNvCxnSpPr/>
          <p:nvPr userDrawn="1"/>
        </p:nvCxnSpPr>
        <p:spPr>
          <a:xfrm>
            <a:off x="1" y="6583363"/>
            <a:ext cx="12192000" cy="0"/>
          </a:xfrm>
          <a:prstGeom prst="line">
            <a:avLst/>
          </a:prstGeom>
          <a:ln w="3175" cmpd="sng">
            <a:solidFill>
              <a:srgbClr val="20346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10"/>
          <p:cNvSpPr txBox="1">
            <a:spLocks noChangeArrowheads="1"/>
          </p:cNvSpPr>
          <p:nvPr userDrawn="1"/>
        </p:nvSpPr>
        <p:spPr bwMode="auto">
          <a:xfrm>
            <a:off x="7669350" y="6602413"/>
            <a:ext cx="3846402" cy="265112"/>
          </a:xfrm>
          <a:prstGeom prst="rect">
            <a:avLst/>
          </a:prstGeom>
          <a:noFill/>
          <a:ln>
            <a:noFill/>
          </a:ln>
        </p:spPr>
        <p:txBody>
          <a:bodyPr lIns="80165" tIns="40083" rIns="80165" bIns="4008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Arial Narrow" panose="020B0606020202030204" pitchFamily="34" charset="0"/>
                <a:cs typeface="Calibri" pitchFamily="34" charset="0"/>
              </a:rPr>
              <a:t>Information Technology &amp; Sustainability Division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7481" y="112078"/>
            <a:ext cx="10972801" cy="508000"/>
          </a:xfrm>
          <a:prstGeom prst="rect">
            <a:avLst/>
          </a:prstGeom>
        </p:spPr>
        <p:txBody>
          <a:bodyPr vert="horz" lIns="95768" tIns="47884" rIns="95768" bIns="47884"/>
          <a:lstStyle>
            <a:lvl1pPr algn="l">
              <a:defRPr sz="3400" b="0">
                <a:solidFill>
                  <a:schemeClr val="bg1"/>
                </a:solidFill>
                <a:latin typeface="+mj-lt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252307" y="1026160"/>
            <a:ext cx="9537277" cy="1097280"/>
          </a:xfrm>
          <a:prstGeom prst="rect">
            <a:avLst/>
          </a:prstGeom>
        </p:spPr>
        <p:txBody>
          <a:bodyPr vert="horz" lIns="95768" tIns="47884" rIns="95768" bIns="47884"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04025" y="6588126"/>
            <a:ext cx="672339" cy="290513"/>
          </a:xfrm>
          <a:prstGeom prst="rect">
            <a:avLst/>
          </a:prstGeom>
        </p:spPr>
        <p:txBody>
          <a:bodyPr vert="horz" wrap="square" lIns="95768" tIns="47884" rIns="95768" bIns="47884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20346D"/>
                </a:solidFill>
                <a:cs typeface="+mn-cs"/>
              </a:defRPr>
            </a:lvl1pPr>
          </a:lstStyle>
          <a:p>
            <a:pPr>
              <a:defRPr/>
            </a:pPr>
            <a:fld id="{F2EEF06B-B593-4DD6-ACA4-13B29809AEF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66578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E39B6-3A4F-4EAF-A3FF-342DA5D7F8EB}" type="datetimeFigureOut">
              <a:rPr lang="en-US" smtClean="0"/>
              <a:t>23/12/19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4C7B7-0491-48ED-B1AD-6663E36572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66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61" r:id="rId12"/>
    <p:sldLayoutId id="21474837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 txBox="1">
            <a:spLocks noChangeArrowheads="1"/>
          </p:cNvSpPr>
          <p:nvPr/>
        </p:nvSpPr>
        <p:spPr bwMode="auto">
          <a:xfrm>
            <a:off x="648885" y="5380038"/>
            <a:ext cx="11056452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65088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defTabSz="47783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defTabSz="47783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defTabSz="47783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defTabSz="477838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ts val="213"/>
              </a:spcBef>
            </a:pPr>
            <a:r>
              <a:rPr kumimoji="0" lang="en-US" altLang="zh-TW" sz="1500" dirty="0">
                <a:solidFill>
                  <a:srgbClr val="808080"/>
                </a:solidFill>
                <a:latin typeface="Arial" charset="0"/>
              </a:rPr>
              <a:t>Prepared on </a:t>
            </a:r>
            <a:r>
              <a:rPr kumimoji="0" lang="en-US" altLang="zh-TW" sz="1500" dirty="0" smtClean="0">
                <a:solidFill>
                  <a:srgbClr val="808080"/>
                </a:solidFill>
                <a:latin typeface="Arial" charset="0"/>
              </a:rPr>
              <a:t>23 </a:t>
            </a:r>
            <a:r>
              <a:rPr kumimoji="0" lang="en-US" altLang="zh-TW" sz="1500" dirty="0">
                <a:solidFill>
                  <a:srgbClr val="808080"/>
                </a:solidFill>
                <a:latin typeface="Arial" charset="0"/>
              </a:rPr>
              <a:t>Dec 2019</a:t>
            </a:r>
            <a:endParaRPr kumimoji="0" lang="en-US" altLang="zh-TW" sz="1000" dirty="0">
              <a:solidFill>
                <a:srgbClr val="808080"/>
              </a:solidFill>
              <a:latin typeface="Arial" charset="0"/>
            </a:endParaRPr>
          </a:p>
        </p:txBody>
      </p:sp>
      <p:sp>
        <p:nvSpPr>
          <p:cNvPr id="3075" name="Title 1"/>
          <p:cNvSpPr>
            <a:spLocks noGrp="1"/>
          </p:cNvSpPr>
          <p:nvPr>
            <p:ph type="title"/>
          </p:nvPr>
        </p:nvSpPr>
        <p:spPr bwMode="auto">
          <a:xfrm>
            <a:off x="609796" y="3730624"/>
            <a:ext cx="10972409" cy="955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SP3d – FO1.2b Test Case Design Flow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342534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8929185" y="900113"/>
            <a:ext cx="1204358" cy="5543550"/>
          </a:xfrm>
          <a:prstGeom prst="rect">
            <a:avLst/>
          </a:prstGeom>
          <a:solidFill>
            <a:schemeClr val="accent5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10272460" y="900113"/>
            <a:ext cx="1634315" cy="5543550"/>
          </a:xfrm>
          <a:prstGeom prst="rect">
            <a:avLst/>
          </a:prstGeom>
          <a:solidFill>
            <a:schemeClr val="accent6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6331769" y="900113"/>
            <a:ext cx="1227048" cy="5543550"/>
          </a:xfrm>
          <a:prstGeom prst="rect">
            <a:avLst/>
          </a:prstGeom>
          <a:solidFill>
            <a:schemeClr val="accent4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7557334" y="900113"/>
            <a:ext cx="1204358" cy="5543550"/>
          </a:xfrm>
          <a:prstGeom prst="rect">
            <a:avLst/>
          </a:prstGeom>
          <a:solidFill>
            <a:schemeClr val="accent4">
              <a:lumMod val="60000"/>
              <a:lumOff val="4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416704" y="988643"/>
            <a:ext cx="1183628" cy="5543550"/>
          </a:xfrm>
          <a:prstGeom prst="rect">
            <a:avLst/>
          </a:prstGeom>
          <a:solidFill>
            <a:schemeClr val="accent4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678483" y="900113"/>
            <a:ext cx="1113810" cy="5543550"/>
          </a:xfrm>
          <a:prstGeom prst="rect">
            <a:avLst/>
          </a:prstGeom>
          <a:solidFill>
            <a:schemeClr val="accent4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4992128" y="900113"/>
            <a:ext cx="1227048" cy="5543550"/>
          </a:xfrm>
          <a:prstGeom prst="rect">
            <a:avLst/>
          </a:prstGeom>
          <a:solidFill>
            <a:schemeClr val="accent4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187655" y="900113"/>
            <a:ext cx="1047787" cy="5543550"/>
          </a:xfrm>
          <a:prstGeom prst="rect">
            <a:avLst/>
          </a:prstGeom>
          <a:solidFill>
            <a:schemeClr val="accent2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58958" y="900113"/>
            <a:ext cx="1028697" cy="5543550"/>
          </a:xfrm>
          <a:prstGeom prst="rect">
            <a:avLst/>
          </a:prstGeom>
          <a:solidFill>
            <a:schemeClr val="accent2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10381" y="979072"/>
            <a:ext cx="1158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Requirement Grooming</a:t>
            </a:r>
            <a:endParaRPr kumimoji="1" lang="zh-TW" altLang="en-US" sz="1400" b="1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146325" y="976893"/>
            <a:ext cx="1143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Architecture Runway</a:t>
            </a:r>
            <a:endParaRPr kumimoji="1" lang="zh-TW" altLang="en-US" sz="1400" b="1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3903" y="114045"/>
            <a:ext cx="10972801" cy="508000"/>
          </a:xfrm>
        </p:spPr>
        <p:txBody>
          <a:bodyPr>
            <a:normAutofit fontScale="90000"/>
          </a:bodyPr>
          <a:lstStyle/>
          <a:p>
            <a:r>
              <a:rPr lang="en-US" altLang="zh-TW" sz="3600" dirty="0"/>
              <a:t>Test Design Team Deliverables</a:t>
            </a:r>
            <a:endParaRPr kumimoji="1" lang="zh-TW" altLang="en-US" dirty="0"/>
          </a:p>
        </p:txBody>
      </p:sp>
      <p:sp>
        <p:nvSpPr>
          <p:cNvPr id="6" name="向右箭號 5"/>
          <p:cNvSpPr/>
          <p:nvPr/>
        </p:nvSpPr>
        <p:spPr>
          <a:xfrm>
            <a:off x="43177" y="2532073"/>
            <a:ext cx="12229782" cy="5715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2410682" y="1072427"/>
            <a:ext cx="11730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Requirement </a:t>
            </a:r>
          </a:p>
          <a:p>
            <a:r>
              <a:rPr kumimoji="1" lang="en-US" altLang="zh-TW" sz="1400" b="1" dirty="0"/>
              <a:t>Study</a:t>
            </a:r>
            <a:endParaRPr kumimoji="1" lang="zh-TW" altLang="en-US" sz="1400" b="1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3718208" y="1072427"/>
            <a:ext cx="1202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Doc Preparation</a:t>
            </a:r>
            <a:endParaRPr kumimoji="1" lang="zh-TW" altLang="en-US" sz="1400" b="1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002407" y="1086715"/>
            <a:ext cx="1244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Coding Development</a:t>
            </a:r>
            <a:endParaRPr kumimoji="1" lang="zh-TW" altLang="en-US" sz="1400" b="1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6322269" y="1086715"/>
            <a:ext cx="1274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Dev Test Entry Evaluation</a:t>
            </a:r>
            <a:endParaRPr kumimoji="1" lang="zh-TW" altLang="en-US" sz="1400" b="1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7604509" y="1097088"/>
            <a:ext cx="1114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Dev Test</a:t>
            </a:r>
          </a:p>
          <a:p>
            <a:r>
              <a:rPr kumimoji="1" lang="en-US" altLang="zh-TW" sz="1400" b="1" dirty="0"/>
              <a:t>Cycle 0</a:t>
            </a:r>
            <a:endParaRPr kumimoji="1" lang="zh-TW" altLang="en-US" sz="1400" b="1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8974349" y="1097088"/>
            <a:ext cx="1114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Dev Test</a:t>
            </a:r>
          </a:p>
          <a:p>
            <a:r>
              <a:rPr kumimoji="1" lang="en-US" altLang="zh-TW" sz="1400" b="1" dirty="0"/>
              <a:t>Cycle 1</a:t>
            </a:r>
            <a:endParaRPr kumimoji="1" lang="zh-TW" altLang="en-US" sz="1400" b="1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0255870" y="1063782"/>
            <a:ext cx="18273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b="1" dirty="0"/>
              <a:t>Integration Test </a:t>
            </a:r>
          </a:p>
          <a:p>
            <a:endParaRPr kumimoji="1" lang="en-US" altLang="zh-TW" sz="1400" dirty="0"/>
          </a:p>
          <a:p>
            <a:r>
              <a:rPr kumimoji="1" lang="en-US" altLang="zh-TW" sz="1400" dirty="0"/>
              <a:t>1</a:t>
            </a:r>
            <a:r>
              <a:rPr kumimoji="1" lang="en-US" altLang="zh-TW" sz="1400" baseline="30000" dirty="0"/>
              <a:t>st</a:t>
            </a:r>
            <a:r>
              <a:rPr kumimoji="1" lang="en-US" altLang="zh-TW" sz="1400" dirty="0"/>
              <a:t> Phase: With FO System Only</a:t>
            </a:r>
          </a:p>
          <a:p>
            <a:r>
              <a:rPr kumimoji="1" lang="en-US" altLang="zh-TW" sz="1400" dirty="0"/>
              <a:t>2</a:t>
            </a:r>
            <a:r>
              <a:rPr kumimoji="1" lang="en-US" altLang="zh-TW" sz="1400" baseline="30000" dirty="0"/>
              <a:t>nd</a:t>
            </a:r>
            <a:r>
              <a:rPr kumimoji="1" lang="en-US" altLang="zh-TW" sz="1400" dirty="0"/>
              <a:t> Phase: With Non-FO Systems (Selected Channels)</a:t>
            </a:r>
            <a:endParaRPr kumimoji="1" lang="zh-TW" altLang="en-US" sz="1400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267549" y="2645854"/>
            <a:ext cx="2036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Per BP Level</a:t>
            </a:r>
            <a:endParaRPr kumimoji="1"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2474755" y="2633157"/>
            <a:ext cx="5073579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/>
                </a:solidFill>
              </a:rPr>
              <a:t>Deliver in </a:t>
            </a:r>
            <a:r>
              <a:rPr kumimoji="1" lang="en-US" altLang="zh-TW" dirty="0" smtClean="0">
                <a:solidFill>
                  <a:schemeClr val="bg1"/>
                </a:solidFill>
              </a:rPr>
              <a:t>FR Base and follow VT Batch as priority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590221" y="2628946"/>
            <a:ext cx="4316554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/>
                </a:solidFill>
              </a:rPr>
              <a:t>Deliver in BP Level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456819" y="722065"/>
            <a:ext cx="9458956" cy="34949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b="1" dirty="0"/>
              <a:t>Virtual Team</a:t>
            </a:r>
            <a:endParaRPr kumimoji="1" lang="zh-TW" altLang="en-US" sz="1600" b="1" dirty="0"/>
          </a:p>
        </p:txBody>
      </p:sp>
      <p:sp>
        <p:nvSpPr>
          <p:cNvPr id="36" name="文字方塊 35"/>
          <p:cNvSpPr txBox="1"/>
          <p:nvPr/>
        </p:nvSpPr>
        <p:spPr>
          <a:xfrm>
            <a:off x="146186" y="3023395"/>
            <a:ext cx="2036065" cy="181588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Preparation and Target Deliverables: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 smtClean="0"/>
              <a:t>Behavior </a:t>
            </a:r>
            <a:r>
              <a:rPr kumimoji="1" lang="en-US" altLang="zh-TW" sz="1400" dirty="0"/>
              <a:t>Test Cases (Positive Main Flow) [BTC - 1</a:t>
            </a:r>
            <a:r>
              <a:rPr kumimoji="1" lang="en-US" altLang="zh-TW" sz="1400" baseline="30000" dirty="0"/>
              <a:t>st</a:t>
            </a:r>
            <a:r>
              <a:rPr kumimoji="1" lang="en-US" altLang="zh-TW" sz="1400" dirty="0"/>
              <a:t> Draft]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Knowledge Sharing Session for enter VT team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2280273" y="3023395"/>
            <a:ext cx="1533874" cy="22467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Target Deliverables: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Behavior Test Cases (with UI Screen Menu </a:t>
            </a:r>
            <a:r>
              <a:rPr kumimoji="1" lang="en-US" altLang="zh-TW" sz="1400" dirty="0" smtClean="0"/>
              <a:t>Path &amp; UI System Solution Checking) </a:t>
            </a:r>
            <a:r>
              <a:rPr kumimoji="1" lang="en-US" altLang="zh-TW" sz="1400" dirty="0"/>
              <a:t/>
            </a:r>
            <a:br>
              <a:rPr kumimoji="1" lang="en-US" altLang="zh-TW" sz="1400" dirty="0"/>
            </a:br>
            <a:r>
              <a:rPr kumimoji="1" lang="en-US" altLang="zh-TW" sz="1400" dirty="0"/>
              <a:t>[BTC -2</a:t>
            </a:r>
            <a:r>
              <a:rPr kumimoji="1" lang="en-US" altLang="zh-TW" sz="1400" baseline="30000" dirty="0"/>
              <a:t>nd</a:t>
            </a:r>
            <a:r>
              <a:rPr kumimoji="1" lang="en-US" altLang="zh-TW" sz="1400" dirty="0"/>
              <a:t> Draft]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3877284" y="3024337"/>
            <a:ext cx="1089979" cy="15696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Target Deliverables: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200" dirty="0"/>
              <a:t>Critical Set of BTC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200" dirty="0"/>
              <a:t>Critical Set of System Case (if applicable)</a:t>
            </a:r>
          </a:p>
        </p:txBody>
      </p:sp>
      <p:sp>
        <p:nvSpPr>
          <p:cNvPr id="39" name="文字方塊 38"/>
          <p:cNvSpPr txBox="1"/>
          <p:nvPr/>
        </p:nvSpPr>
        <p:spPr>
          <a:xfrm>
            <a:off x="2455690" y="5436324"/>
            <a:ext cx="7602208" cy="1169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ash"/>
            <a:round/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Preparation: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System Cases for whole BP / cross BP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Integration Cases with FO systems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Integration Cases with Non-FO systems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Operation Scenario 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328422" y="3037390"/>
            <a:ext cx="118575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Target Deliverables: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200" dirty="0"/>
              <a:t>Full Set BTC [3</a:t>
            </a:r>
            <a:r>
              <a:rPr kumimoji="1" lang="en-US" altLang="zh-TW" sz="1200" baseline="30000" dirty="0"/>
              <a:t>rd</a:t>
            </a:r>
            <a:r>
              <a:rPr kumimoji="1" lang="en-US" altLang="zh-TW" sz="1200" dirty="0"/>
              <a:t> Draft]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200" dirty="0"/>
              <a:t>High Level System Cases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7568707" y="3044216"/>
            <a:ext cx="1200337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Target Deliverables: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200" dirty="0"/>
              <a:t>Full Set System Cases</a:t>
            </a:r>
            <a:br>
              <a:rPr kumimoji="1" lang="en-US" altLang="zh-TW" sz="1200" dirty="0"/>
            </a:br>
            <a:r>
              <a:rPr kumimoji="1" lang="en-US" altLang="zh-TW" sz="1200" dirty="0"/>
              <a:t>for whole BP [STC – 2</a:t>
            </a:r>
            <a:r>
              <a:rPr kumimoji="1" lang="en-US" altLang="zh-TW" sz="1200" baseline="30000" dirty="0"/>
              <a:t>st</a:t>
            </a:r>
            <a:r>
              <a:rPr kumimoji="1" lang="en-US" altLang="zh-TW" sz="1200" dirty="0"/>
              <a:t> Draft]</a:t>
            </a:r>
          </a:p>
        </p:txBody>
      </p:sp>
      <p:sp>
        <p:nvSpPr>
          <p:cNvPr id="42" name="向右箭號 41"/>
          <p:cNvSpPr/>
          <p:nvPr/>
        </p:nvSpPr>
        <p:spPr>
          <a:xfrm rot="18461377">
            <a:off x="4341741" y="2544595"/>
            <a:ext cx="821246" cy="383032"/>
          </a:xfrm>
          <a:prstGeom prst="rightArrow">
            <a:avLst/>
          </a:prstGeom>
          <a:solidFill>
            <a:schemeClr val="accent1"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3" name="向右箭號 42"/>
          <p:cNvSpPr/>
          <p:nvPr/>
        </p:nvSpPr>
        <p:spPr>
          <a:xfrm rot="18308307">
            <a:off x="7208479" y="2583501"/>
            <a:ext cx="781885" cy="383032"/>
          </a:xfrm>
          <a:prstGeom prst="rightArrow">
            <a:avLst/>
          </a:prstGeom>
          <a:solidFill>
            <a:schemeClr val="accent1"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向右箭號 43"/>
          <p:cNvSpPr/>
          <p:nvPr/>
        </p:nvSpPr>
        <p:spPr>
          <a:xfrm rot="18308307">
            <a:off x="8454497" y="2596628"/>
            <a:ext cx="781885" cy="383032"/>
          </a:xfrm>
          <a:prstGeom prst="rightArrow">
            <a:avLst/>
          </a:prstGeom>
          <a:solidFill>
            <a:schemeClr val="accent1">
              <a:alpha val="6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方塊 44"/>
          <p:cNvSpPr txBox="1"/>
          <p:nvPr/>
        </p:nvSpPr>
        <p:spPr>
          <a:xfrm>
            <a:off x="10284446" y="3716833"/>
            <a:ext cx="1605740" cy="16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ash"/>
            <a:round/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Keep update and refinement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System Cases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Integration Cases</a:t>
            </a:r>
          </a:p>
          <a:p>
            <a:pPr marL="285750" indent="-285750">
              <a:buFontTx/>
              <a:buChar char="-"/>
            </a:pPr>
            <a:r>
              <a:rPr kumimoji="1" lang="en-US" altLang="zh-TW" sz="1400" dirty="0"/>
              <a:t>Operation Scenario</a:t>
            </a:r>
          </a:p>
        </p:txBody>
      </p:sp>
      <p:sp>
        <p:nvSpPr>
          <p:cNvPr id="46" name="文字方塊 45"/>
          <p:cNvSpPr txBox="1"/>
          <p:nvPr/>
        </p:nvSpPr>
        <p:spPr>
          <a:xfrm>
            <a:off x="8936537" y="3044216"/>
            <a:ext cx="1200337" cy="19389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Target Deliverables: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200" dirty="0"/>
              <a:t>Full Set Integration Cases [ITC – 1</a:t>
            </a:r>
            <a:r>
              <a:rPr kumimoji="1" lang="en-US" altLang="zh-TW" sz="1200" baseline="30000" dirty="0"/>
              <a:t>st</a:t>
            </a:r>
            <a:r>
              <a:rPr kumimoji="1" lang="en-US" altLang="zh-TW" sz="1200" dirty="0"/>
              <a:t> Draft]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200" dirty="0"/>
              <a:t>Full Set Scenario related to this BP</a:t>
            </a:r>
          </a:p>
        </p:txBody>
      </p:sp>
      <p:sp>
        <p:nvSpPr>
          <p:cNvPr id="47" name="向右箭號 46"/>
          <p:cNvSpPr/>
          <p:nvPr/>
        </p:nvSpPr>
        <p:spPr>
          <a:xfrm rot="18308307">
            <a:off x="9822327" y="2596628"/>
            <a:ext cx="781885" cy="383032"/>
          </a:xfrm>
          <a:prstGeom prst="rightArrow">
            <a:avLst/>
          </a:prstGeom>
          <a:solidFill>
            <a:schemeClr val="accent1">
              <a:alpha val="6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向右箭號 47"/>
          <p:cNvSpPr/>
          <p:nvPr/>
        </p:nvSpPr>
        <p:spPr>
          <a:xfrm rot="18461377">
            <a:off x="1898018" y="2588332"/>
            <a:ext cx="821246" cy="383032"/>
          </a:xfrm>
          <a:prstGeom prst="rightArrow">
            <a:avLst/>
          </a:prstGeom>
          <a:solidFill>
            <a:schemeClr val="accent1">
              <a:alpha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文字方塊 37"/>
          <p:cNvSpPr txBox="1"/>
          <p:nvPr/>
        </p:nvSpPr>
        <p:spPr>
          <a:xfrm>
            <a:off x="5110362" y="4698895"/>
            <a:ext cx="2434603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200" dirty="0" smtClean="0"/>
              <a:t>API / UI Automation based on BTC</a:t>
            </a:r>
            <a:endParaRPr kumimoji="1" lang="en-US" altLang="zh-TW" sz="1200" dirty="0"/>
          </a:p>
        </p:txBody>
      </p:sp>
      <p:sp>
        <p:nvSpPr>
          <p:cNvPr id="51" name="文字方塊 37"/>
          <p:cNvSpPr txBox="1"/>
          <p:nvPr/>
        </p:nvSpPr>
        <p:spPr>
          <a:xfrm>
            <a:off x="7607678" y="5017446"/>
            <a:ext cx="2434603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200" dirty="0" smtClean="0"/>
              <a:t>API / UI Automation based on System TC</a:t>
            </a:r>
            <a:endParaRPr kumimoji="1"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213453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144336" y="1480483"/>
            <a:ext cx="3827255" cy="4963180"/>
          </a:xfrm>
          <a:prstGeom prst="rect">
            <a:avLst/>
          </a:prstGeom>
          <a:solidFill>
            <a:schemeClr val="accent2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8154367" y="1480483"/>
            <a:ext cx="3827255" cy="4963180"/>
          </a:xfrm>
          <a:prstGeom prst="rect">
            <a:avLst/>
          </a:prstGeom>
          <a:solidFill>
            <a:schemeClr val="accent2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34305" y="1480483"/>
            <a:ext cx="3827255" cy="4963180"/>
          </a:xfrm>
          <a:prstGeom prst="rect">
            <a:avLst/>
          </a:prstGeom>
          <a:solidFill>
            <a:schemeClr val="accent2">
              <a:lumMod val="20000"/>
              <a:lumOff val="80000"/>
              <a:alpha val="4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Test Design Example – </a:t>
            </a:r>
            <a:r>
              <a:rPr kumimoji="1" lang="en-US" altLang="zh-TW" dirty="0" smtClean="0"/>
              <a:t>Different Test Cases Type</a:t>
            </a:r>
            <a:endParaRPr kumimoji="1"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50253" y="886967"/>
            <a:ext cx="11615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/>
              <a:t>Start Sell Pool and Place Bets from Downstream Channels</a:t>
            </a:r>
            <a:endParaRPr kumimoji="1"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244246" y="1580906"/>
            <a:ext cx="360737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 smtClean="0"/>
              <a:t>BTC for EDS</a:t>
            </a:r>
            <a:r>
              <a:rPr kumimoji="1" lang="en-US" altLang="zh-TW" sz="1400" dirty="0"/>
              <a:t>:</a:t>
            </a:r>
          </a:p>
          <a:p>
            <a:r>
              <a:rPr kumimoji="1" lang="en-US" altLang="zh-TW" sz="1400" dirty="0"/>
              <a:t>Create Event Profile – Team A vs Team B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244246" y="2187545"/>
            <a:ext cx="3607372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BTC for </a:t>
            </a:r>
            <a:r>
              <a:rPr kumimoji="1" lang="en-US" altLang="zh-TW" sz="1400" dirty="0" smtClean="0"/>
              <a:t> BTS</a:t>
            </a:r>
            <a:r>
              <a:rPr kumimoji="1" lang="en-US" altLang="zh-TW" sz="1400" dirty="0"/>
              <a:t>:</a:t>
            </a:r>
          </a:p>
          <a:p>
            <a:r>
              <a:rPr kumimoji="1" lang="en-US" altLang="zh-TW" sz="1400" dirty="0"/>
              <a:t>Add Bet Type – HAD and CRS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244246" y="2791876"/>
            <a:ext cx="360737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BTC for OCF:</a:t>
            </a:r>
          </a:p>
          <a:p>
            <a:r>
              <a:rPr kumimoji="1" lang="en-US" altLang="zh-TW" sz="1400" dirty="0"/>
              <a:t>Odds Finalization – HAD and CRS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244246" y="3396207"/>
            <a:ext cx="3607372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BTC for TTA:</a:t>
            </a:r>
          </a:p>
          <a:p>
            <a:r>
              <a:rPr kumimoji="1" lang="en-US" altLang="zh-TW" sz="1400" dirty="0"/>
              <a:t>Check at least Two Traders are assigned to Event Profile  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244246" y="4204587"/>
            <a:ext cx="3607372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BTC for MSSS:</a:t>
            </a:r>
          </a:p>
          <a:p>
            <a:r>
              <a:rPr kumimoji="1" lang="en-US" altLang="zh-TW" sz="1400" dirty="0"/>
              <a:t>Channel user define TB Selling Business Hours – 12:00 to 23:00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244246" y="5035596"/>
            <a:ext cx="3607372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BTC for MSSS:</a:t>
            </a:r>
          </a:p>
          <a:p>
            <a:r>
              <a:rPr kumimoji="1" lang="en-US" altLang="zh-TW" sz="1400" dirty="0"/>
              <a:t>BOCC Start Sell Event Profile – Team A vs Team B at 12:00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4254276" y="1681915"/>
            <a:ext cx="3603849" cy="11695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zh-TW" sz="1400" dirty="0"/>
          </a:p>
          <a:p>
            <a:r>
              <a:rPr kumimoji="1" lang="en-US" altLang="zh-TW" sz="1400" dirty="0"/>
              <a:t>System Test Case 1: </a:t>
            </a:r>
          </a:p>
          <a:p>
            <a:endParaRPr kumimoji="1" lang="en-US" altLang="zh-TW" sz="1400" dirty="0"/>
          </a:p>
          <a:p>
            <a:r>
              <a:rPr kumimoji="1" lang="en-US" altLang="zh-TW" sz="1400" dirty="0"/>
              <a:t>Create 1 Event Profile with HAD and CRS</a:t>
            </a:r>
          </a:p>
          <a:p>
            <a:endParaRPr kumimoji="1" lang="en-US" altLang="zh-TW" sz="1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254275" y="2869128"/>
            <a:ext cx="3603849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zh-TW" sz="1400" dirty="0"/>
          </a:p>
          <a:p>
            <a:r>
              <a:rPr kumimoji="1" lang="en-US" altLang="zh-TW" sz="1400" dirty="0"/>
              <a:t>System Test Case 2:</a:t>
            </a:r>
          </a:p>
          <a:p>
            <a:endParaRPr kumimoji="1" lang="en-US" altLang="zh-TW" sz="1400" dirty="0"/>
          </a:p>
          <a:p>
            <a:r>
              <a:rPr kumimoji="1" lang="en-US" altLang="zh-TW" sz="1400" dirty="0"/>
              <a:t>Check Pre-event Traders Assignment </a:t>
            </a:r>
          </a:p>
          <a:p>
            <a:r>
              <a:rPr kumimoji="1" lang="en-US" altLang="zh-TW" sz="1400" dirty="0"/>
              <a:t>for Event Profile with HAD and CRS</a:t>
            </a:r>
          </a:p>
          <a:p>
            <a:endParaRPr kumimoji="1" lang="en-US" altLang="zh-TW" sz="1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4254274" y="4455477"/>
            <a:ext cx="3603849" cy="116955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zh-TW" sz="1400" dirty="0"/>
          </a:p>
          <a:p>
            <a:r>
              <a:rPr kumimoji="1" lang="en-US" altLang="zh-TW" sz="1400" dirty="0"/>
              <a:t>System Test Case 3:</a:t>
            </a:r>
          </a:p>
          <a:p>
            <a:r>
              <a:rPr kumimoji="1" lang="en-US" altLang="zh-TW" sz="1400" dirty="0"/>
              <a:t>Start Sell Match with HAD and CRS with Frontend ID is defined</a:t>
            </a:r>
          </a:p>
          <a:p>
            <a:endParaRPr kumimoji="1" lang="en-US" altLang="zh-TW" sz="1400" dirty="0"/>
          </a:p>
        </p:txBody>
      </p:sp>
      <p:sp>
        <p:nvSpPr>
          <p:cNvPr id="32" name="向右箭號 31"/>
          <p:cNvSpPr/>
          <p:nvPr/>
        </p:nvSpPr>
        <p:spPr>
          <a:xfrm>
            <a:off x="3851618" y="1799503"/>
            <a:ext cx="402656" cy="76131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3" name="向右箭號 32"/>
          <p:cNvSpPr/>
          <p:nvPr/>
        </p:nvSpPr>
        <p:spPr>
          <a:xfrm>
            <a:off x="3870171" y="3049968"/>
            <a:ext cx="402656" cy="7613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向右箭號 33"/>
          <p:cNvSpPr/>
          <p:nvPr/>
        </p:nvSpPr>
        <p:spPr>
          <a:xfrm>
            <a:off x="3870170" y="4573919"/>
            <a:ext cx="402656" cy="7613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6" name="文字方塊 35"/>
          <p:cNvSpPr txBox="1"/>
          <p:nvPr/>
        </p:nvSpPr>
        <p:spPr>
          <a:xfrm>
            <a:off x="8266069" y="1710491"/>
            <a:ext cx="3603849" cy="13849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zh-TW" sz="1400" dirty="0"/>
          </a:p>
          <a:p>
            <a:r>
              <a:rPr kumimoji="1" lang="en-US" altLang="zh-TW" sz="1400" dirty="0"/>
              <a:t>Integration Test Case 1 (FO System Level/ Win++ Level):</a:t>
            </a:r>
          </a:p>
          <a:p>
            <a:r>
              <a:rPr kumimoji="1" lang="en-US" altLang="zh-TW" sz="1400" dirty="0"/>
              <a:t>Check ACP and AGP are Started Sell after Start Sell Match with HAD and CRS for TB Channel</a:t>
            </a:r>
          </a:p>
          <a:p>
            <a:endParaRPr kumimoji="1" lang="en-US" altLang="zh-TW" sz="1400" dirty="0"/>
          </a:p>
        </p:txBody>
      </p:sp>
      <p:sp>
        <p:nvSpPr>
          <p:cNvPr id="37" name="文字方塊 36"/>
          <p:cNvSpPr txBox="1"/>
          <p:nvPr/>
        </p:nvSpPr>
        <p:spPr>
          <a:xfrm>
            <a:off x="8266069" y="3188924"/>
            <a:ext cx="3603849" cy="138499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zh-TW" sz="1400" dirty="0"/>
          </a:p>
          <a:p>
            <a:r>
              <a:rPr kumimoji="1" lang="en-US" altLang="zh-TW" sz="1400" dirty="0"/>
              <a:t>Integration Test Case 2 (FO System Level/ Win++ Level):</a:t>
            </a:r>
          </a:p>
          <a:p>
            <a:r>
              <a:rPr kumimoji="1" lang="en-US" altLang="zh-TW" sz="1400" dirty="0"/>
              <a:t>Check CAP IDA-FB received Match Start Sell with HAD and CRS for TB Channel</a:t>
            </a:r>
          </a:p>
          <a:p>
            <a:endParaRPr kumimoji="1" lang="en-US" altLang="zh-TW" sz="1400" dirty="0"/>
          </a:p>
        </p:txBody>
      </p:sp>
      <p:sp>
        <p:nvSpPr>
          <p:cNvPr id="38" name="文字方塊 37"/>
          <p:cNvSpPr txBox="1"/>
          <p:nvPr/>
        </p:nvSpPr>
        <p:spPr>
          <a:xfrm>
            <a:off x="8266069" y="4667357"/>
            <a:ext cx="3603849" cy="11695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zh-TW" sz="1400" dirty="0"/>
          </a:p>
          <a:p>
            <a:r>
              <a:rPr kumimoji="1" lang="en-US" altLang="zh-TW" sz="1400" dirty="0"/>
              <a:t>Integration Test Case 3 (Non-FO System Level):</a:t>
            </a:r>
          </a:p>
          <a:p>
            <a:r>
              <a:rPr kumimoji="1" lang="en-US" altLang="zh-TW" sz="1400" dirty="0"/>
              <a:t>Check TBTN received FBXXXX Match Start Sell with HAD and CRS and can place bet</a:t>
            </a:r>
          </a:p>
          <a:p>
            <a:endParaRPr kumimoji="1" lang="en-US" altLang="zh-TW" sz="1400" dirty="0"/>
          </a:p>
        </p:txBody>
      </p:sp>
      <p:sp>
        <p:nvSpPr>
          <p:cNvPr id="40" name="向右箭號 39"/>
          <p:cNvSpPr/>
          <p:nvPr/>
        </p:nvSpPr>
        <p:spPr>
          <a:xfrm>
            <a:off x="-58693" y="6102388"/>
            <a:ext cx="12229782" cy="571500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796187" y="6198580"/>
            <a:ext cx="278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smtClean="0"/>
              <a:t>Behavior </a:t>
            </a:r>
            <a:r>
              <a:rPr kumimoji="1" lang="en-US" altLang="zh-TW" dirty="0"/>
              <a:t>Test Case Level</a:t>
            </a:r>
            <a:endParaRPr kumimoji="1"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4154557" y="6207516"/>
            <a:ext cx="3817033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/>
                </a:solidFill>
              </a:rPr>
              <a:t>System </a:t>
            </a:r>
            <a:r>
              <a:rPr kumimoji="1" lang="en-US" altLang="zh-TW" dirty="0" smtClean="0">
                <a:solidFill>
                  <a:schemeClr val="bg1"/>
                </a:solidFill>
              </a:rPr>
              <a:t>Test Case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8164586" y="6189444"/>
            <a:ext cx="3701085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bg1"/>
                </a:solidFill>
              </a:rPr>
              <a:t>Integration Test </a:t>
            </a:r>
            <a:r>
              <a:rPr kumimoji="1" lang="en-US" altLang="zh-TW" dirty="0" smtClean="0">
                <a:solidFill>
                  <a:schemeClr val="bg1"/>
                </a:solidFill>
              </a:rPr>
              <a:t>Case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  <p:sp>
        <p:nvSpPr>
          <p:cNvPr id="46" name="向下箭號 45"/>
          <p:cNvSpPr/>
          <p:nvPr/>
        </p:nvSpPr>
        <p:spPr>
          <a:xfrm>
            <a:off x="7343775" y="1567014"/>
            <a:ext cx="605736" cy="42560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9" name="文字方塊 48"/>
          <p:cNvSpPr txBox="1"/>
          <p:nvPr/>
        </p:nvSpPr>
        <p:spPr>
          <a:xfrm>
            <a:off x="7430098" y="2165396"/>
            <a:ext cx="461665" cy="388961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TW" dirty="0">
                <a:solidFill>
                  <a:schemeClr val="bg1"/>
                </a:solidFill>
              </a:rPr>
              <a:t>Follow Defined FB Lifecycle</a:t>
            </a:r>
            <a:endParaRPr kumimoji="1"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32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304443" y="142210"/>
            <a:ext cx="8229600" cy="5080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Behavior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– 1/4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04443" y="848497"/>
            <a:ext cx="10935986" cy="29837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/>
            </a:pPr>
            <a:r>
              <a:rPr lang="en-US" sz="1600" b="1" dirty="0" smtClean="0"/>
              <a:t>Input View - Test </a:t>
            </a:r>
            <a:r>
              <a:rPr lang="en-US" sz="1600" b="1" dirty="0"/>
              <a:t>Case Basic Information</a:t>
            </a:r>
            <a:r>
              <a:rPr lang="en-US" sz="1600" b="1" dirty="0" smtClean="0"/>
              <a:t>:</a:t>
            </a:r>
            <a:endParaRPr lang="en-US" sz="1600" b="1" dirty="0"/>
          </a:p>
          <a:p>
            <a:pPr>
              <a:defRPr/>
            </a:pPr>
            <a:r>
              <a:rPr lang="en-US" altLang="en-US" sz="1600" dirty="0" smtClean="0"/>
              <a:t>Design Doc Reference</a:t>
            </a:r>
            <a:r>
              <a:rPr lang="en-US" altLang="en-US" sz="1600" dirty="0"/>
              <a:t>: </a:t>
            </a:r>
            <a:endParaRPr lang="en-US" altLang="en-US" sz="1600" dirty="0" smtClean="0"/>
          </a:p>
          <a:p>
            <a:pPr lvl="1">
              <a:defRPr/>
            </a:pPr>
            <a:r>
              <a:rPr lang="en-US" altLang="en-US" sz="1500" dirty="0" smtClean="0"/>
              <a:t>Business </a:t>
            </a:r>
            <a:r>
              <a:rPr lang="en-US" altLang="en-US" sz="1500" dirty="0"/>
              <a:t>&amp; Functional </a:t>
            </a:r>
            <a:r>
              <a:rPr lang="en-US" altLang="en-US" sz="1500" dirty="0" smtClean="0"/>
              <a:t>Requirement Doc, Message and Task Summary</a:t>
            </a:r>
            <a:r>
              <a:rPr lang="en-US" altLang="en-US" sz="1500" dirty="0"/>
              <a:t>, </a:t>
            </a:r>
            <a:r>
              <a:rPr lang="en-US" altLang="en-US" sz="1500" dirty="0" err="1"/>
              <a:t>RnR</a:t>
            </a:r>
            <a:r>
              <a:rPr lang="en-US" altLang="en-US" sz="1500" dirty="0"/>
              <a:t> </a:t>
            </a:r>
            <a:r>
              <a:rPr lang="en-US" altLang="en-US" sz="1500" dirty="0" smtClean="0"/>
              <a:t>Matrix, Field Spec, </a:t>
            </a:r>
            <a:r>
              <a:rPr lang="en-US" altLang="en-US" sz="1500" dirty="0"/>
              <a:t>Product Matrix, Data </a:t>
            </a:r>
            <a:r>
              <a:rPr lang="en-US" altLang="en-US" sz="1500" dirty="0" err="1"/>
              <a:t>Init</a:t>
            </a:r>
            <a:r>
              <a:rPr lang="en-US" altLang="en-US" sz="1500" dirty="0"/>
              <a:t> </a:t>
            </a:r>
            <a:r>
              <a:rPr lang="en-US" altLang="en-US" sz="1500" dirty="0" smtClean="0"/>
              <a:t>Files</a:t>
            </a:r>
            <a:endParaRPr lang="en-US" sz="1500" dirty="0" smtClean="0"/>
          </a:p>
          <a:p>
            <a:pPr>
              <a:defRPr/>
            </a:pPr>
            <a:r>
              <a:rPr lang="en-US" sz="1600" dirty="0"/>
              <a:t>Highlight</a:t>
            </a:r>
            <a:r>
              <a:rPr lang="en-US" sz="1600" dirty="0" smtClean="0"/>
              <a:t>:</a:t>
            </a:r>
            <a:endParaRPr lang="en-US" sz="1600" dirty="0"/>
          </a:p>
          <a:p>
            <a:pPr lvl="1">
              <a:defRPr/>
            </a:pPr>
            <a:r>
              <a:rPr lang="en-US" sz="1400" dirty="0"/>
              <a:t>Status: </a:t>
            </a:r>
          </a:p>
          <a:p>
            <a:pPr lvl="2">
              <a:defRPr/>
            </a:pPr>
            <a:r>
              <a:rPr lang="en-US" sz="1400" dirty="0"/>
              <a:t>Valid:</a:t>
            </a:r>
          </a:p>
          <a:p>
            <a:pPr lvl="2">
              <a:defRPr/>
            </a:pPr>
            <a:r>
              <a:rPr lang="en-US" sz="1400" dirty="0"/>
              <a:t>In Progress:</a:t>
            </a:r>
          </a:p>
          <a:p>
            <a:pPr lvl="2">
              <a:defRPr/>
            </a:pPr>
            <a:r>
              <a:rPr lang="en-US" sz="1400" dirty="0"/>
              <a:t>Invalid:</a:t>
            </a:r>
          </a:p>
          <a:p>
            <a:pPr lvl="2">
              <a:defRPr/>
            </a:pPr>
            <a:r>
              <a:rPr lang="en-US" sz="1400" dirty="0"/>
              <a:t>Ready for review:</a:t>
            </a:r>
          </a:p>
          <a:p>
            <a:pPr lvl="1">
              <a:defRPr/>
            </a:pPr>
            <a:r>
              <a:rPr lang="en-US" sz="1400" dirty="0"/>
              <a:t>FRP Reference Version: From FR’s Serena History Details </a:t>
            </a:r>
          </a:p>
          <a:p>
            <a:pPr lvl="1">
              <a:defRPr/>
            </a:pPr>
            <a:r>
              <a:rPr lang="en-US" sz="1400" dirty="0"/>
              <a:t>Remark: for us to enter some remark/notes</a:t>
            </a:r>
          </a:p>
          <a:p>
            <a:pPr lvl="1">
              <a:defRPr/>
            </a:pPr>
            <a:r>
              <a:rPr lang="en-US" sz="1400" dirty="0"/>
              <a:t>Error Handling Case: Negative Test Case/Derive Case</a:t>
            </a:r>
          </a:p>
        </p:txBody>
      </p:sp>
      <p:pic>
        <p:nvPicPr>
          <p:cNvPr id="14340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539" y="3832226"/>
            <a:ext cx="6854825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13"/>
          <a:stretch>
            <a:fillRect/>
          </a:stretch>
        </p:blipFill>
        <p:spPr bwMode="auto">
          <a:xfrm>
            <a:off x="8831263" y="2362200"/>
            <a:ext cx="1744662" cy="391795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781300" y="3832226"/>
            <a:ext cx="952500" cy="2314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7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97069" y="1025525"/>
            <a:ext cx="9259886" cy="3394075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1600" b="1" u="sng" dirty="0"/>
              <a:t>Framework:</a:t>
            </a:r>
            <a:endParaRPr lang="en-US" sz="1600" b="1" dirty="0"/>
          </a:p>
          <a:p>
            <a:pPr lvl="1">
              <a:defRPr/>
            </a:pPr>
            <a:r>
              <a:rPr lang="en-US" sz="1200" b="1" dirty="0"/>
              <a:t>Feature: </a:t>
            </a:r>
            <a:r>
              <a:rPr lang="en-US" sz="1200" dirty="0"/>
              <a:t>Business Process Story</a:t>
            </a:r>
          </a:p>
          <a:p>
            <a:pPr lvl="1">
              <a:defRPr/>
            </a:pPr>
            <a:r>
              <a:rPr lang="en-US" sz="1200" b="1" dirty="0"/>
              <a:t>Scenario: </a:t>
            </a:r>
            <a:r>
              <a:rPr lang="en-US" sz="1200" dirty="0"/>
              <a:t>Header which describes the scenario you’re interested in</a:t>
            </a:r>
          </a:p>
          <a:p>
            <a:pPr lvl="1">
              <a:defRPr/>
            </a:pPr>
            <a:r>
              <a:rPr lang="en-US" sz="1200" b="1" dirty="0"/>
              <a:t>GIVEN </a:t>
            </a:r>
            <a:r>
              <a:rPr lang="en-US" sz="1200" dirty="0"/>
              <a:t>(describing the context)</a:t>
            </a:r>
          </a:p>
          <a:p>
            <a:pPr lvl="1">
              <a:defRPr/>
            </a:pPr>
            <a:r>
              <a:rPr lang="en-US" sz="1200" b="1" dirty="0"/>
              <a:t>WHEN </a:t>
            </a:r>
            <a:r>
              <a:rPr lang="en-US" sz="1200" dirty="0"/>
              <a:t>(describing the action)</a:t>
            </a:r>
          </a:p>
          <a:p>
            <a:pPr lvl="1">
              <a:defRPr/>
            </a:pPr>
            <a:r>
              <a:rPr lang="en-US" sz="1200" b="1" dirty="0"/>
              <a:t>THEN </a:t>
            </a:r>
            <a:r>
              <a:rPr lang="en-US" sz="1200" dirty="0"/>
              <a:t>(describing the outcome)</a:t>
            </a:r>
            <a:endParaRPr lang="en-US" sz="1600" dirty="0"/>
          </a:p>
          <a:p>
            <a:pPr>
              <a:defRPr/>
            </a:pPr>
            <a:r>
              <a:rPr lang="en-US" sz="1600" dirty="0"/>
              <a:t>Highlight:</a:t>
            </a:r>
          </a:p>
          <a:p>
            <a:pPr lvl="1">
              <a:defRPr/>
            </a:pPr>
            <a:r>
              <a:rPr lang="en-US" sz="1200" dirty="0"/>
              <a:t>Scenario will be combined from Area and Sub-Area columns</a:t>
            </a:r>
          </a:p>
          <a:p>
            <a:pPr lvl="1">
              <a:defRPr/>
            </a:pPr>
            <a:r>
              <a:rPr lang="en-US" sz="1200" dirty="0"/>
              <a:t>Precondition may have more than one, separate into different AND columns </a:t>
            </a:r>
          </a:p>
          <a:p>
            <a:pPr lvl="1">
              <a:defRPr/>
            </a:pPr>
            <a:r>
              <a:rPr lang="en-US" sz="1200" dirty="0"/>
              <a:t>All data value enter into the Data Value column, use “</a:t>
            </a:r>
            <a:r>
              <a:rPr lang="en-US" sz="1200" dirty="0">
                <a:solidFill>
                  <a:srgbClr val="FF0000"/>
                </a:solidFill>
              </a:rPr>
              <a:t>[ ]</a:t>
            </a:r>
            <a:r>
              <a:rPr lang="en-US" sz="1200" dirty="0"/>
              <a:t>” as the data variable</a:t>
            </a:r>
          </a:p>
          <a:p>
            <a:pPr lvl="2">
              <a:defRPr/>
            </a:pPr>
            <a:r>
              <a:rPr lang="en-US" sz="1200" dirty="0"/>
              <a:t>E.g.  </a:t>
            </a:r>
            <a:r>
              <a:rPr lang="en-US" sz="1200" dirty="0">
                <a:solidFill>
                  <a:srgbClr val="FF0000"/>
                </a:solidFill>
              </a:rPr>
              <a:t>[</a:t>
            </a:r>
            <a:r>
              <a:rPr lang="en-US" sz="1200" dirty="0"/>
              <a:t>DATA VARIABLE</a:t>
            </a:r>
            <a:r>
              <a:rPr lang="en-US" sz="1200" dirty="0">
                <a:solidFill>
                  <a:srgbClr val="FF0000"/>
                </a:solidFill>
              </a:rPr>
              <a:t>]:</a:t>
            </a:r>
            <a:r>
              <a:rPr lang="en-US" sz="1200" dirty="0"/>
              <a:t>toppyshli,RnR R0081</a:t>
            </a:r>
          </a:p>
          <a:p>
            <a:pPr lvl="2">
              <a:defRPr/>
            </a:pPr>
            <a:r>
              <a:rPr lang="en-US" sz="1200" dirty="0"/>
              <a:t>If more than 1 data, use “;” to separate them</a:t>
            </a:r>
          </a:p>
          <a:p>
            <a:pPr marL="1371600" lvl="3" indent="0">
              <a:buNone/>
              <a:defRPr/>
            </a:pPr>
            <a:r>
              <a:rPr lang="en-US" sz="1200" dirty="0"/>
              <a:t>- E.g.  </a:t>
            </a:r>
            <a:r>
              <a:rPr lang="en-US" sz="1200" dirty="0">
                <a:solidFill>
                  <a:srgbClr val="FF0000"/>
                </a:solidFill>
              </a:rPr>
              <a:t>[</a:t>
            </a:r>
            <a:r>
              <a:rPr lang="en-US" sz="1200" dirty="0"/>
              <a:t>DATA VARIABLE</a:t>
            </a:r>
            <a:r>
              <a:rPr lang="en-US" sz="1200" dirty="0">
                <a:solidFill>
                  <a:srgbClr val="FF0000"/>
                </a:solidFill>
              </a:rPr>
              <a:t>]:</a:t>
            </a:r>
            <a:r>
              <a:rPr lang="en-US" sz="1200" dirty="0"/>
              <a:t>toppyshli,RnR R0081</a:t>
            </a:r>
            <a:r>
              <a:rPr lang="en-US" sz="1200" dirty="0">
                <a:solidFill>
                  <a:srgbClr val="FF0000"/>
                </a:solidFill>
              </a:rPr>
              <a:t>;</a:t>
            </a:r>
            <a:r>
              <a:rPr lang="en-US" sz="1200" dirty="0"/>
              <a:t>kaemankmchan,RnR R0081</a:t>
            </a:r>
          </a:p>
          <a:p>
            <a:pPr lvl="2">
              <a:defRPr/>
            </a:pPr>
            <a:endParaRPr lang="en-US" sz="1200" dirty="0"/>
          </a:p>
          <a:p>
            <a:pPr lvl="2">
              <a:defRPr/>
            </a:pPr>
            <a:endParaRPr lang="en-US" sz="800" dirty="0"/>
          </a:p>
        </p:txBody>
      </p:sp>
      <p:pic>
        <p:nvPicPr>
          <p:cNvPr id="1536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914" y="4419600"/>
            <a:ext cx="8707437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1167" y="1322385"/>
            <a:ext cx="6096000" cy="6686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443" y="142210"/>
            <a:ext cx="8229600" cy="5080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Behavior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– </a:t>
            </a:r>
            <a:r>
              <a:rPr lang="en-US" altLang="en-US" dirty="0">
                <a:cs typeface="Helvetica" panose="020B0604020202020204" pitchFamily="34" charset="0"/>
              </a:rPr>
              <a:t>2</a:t>
            </a:r>
            <a:r>
              <a:rPr lang="en-US" altLang="en-US" dirty="0" smtClean="0">
                <a:cs typeface="Helvetica" panose="020B0604020202020204" pitchFamily="34" charset="0"/>
              </a:rPr>
              <a:t>/4</a:t>
            </a:r>
          </a:p>
        </p:txBody>
      </p:sp>
    </p:spTree>
    <p:extLst>
      <p:ext uri="{BB962C8B-B14F-4D97-AF65-F5344CB8AC3E}">
        <p14:creationId xmlns:p14="http://schemas.microsoft.com/office/powerpoint/2010/main" val="371216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>
            <a:spLocks/>
          </p:cNvSpPr>
          <p:nvPr/>
        </p:nvSpPr>
        <p:spPr bwMode="auto">
          <a:xfrm>
            <a:off x="319192" y="1066800"/>
            <a:ext cx="857408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946" tIns="36473" rIns="72946" bIns="36473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600" b="1" u="sng" dirty="0"/>
              <a:t>Framework:</a:t>
            </a:r>
            <a:endParaRPr lang="en-US" sz="1600" b="1" dirty="0"/>
          </a:p>
          <a:p>
            <a:pPr lvl="1">
              <a:defRPr/>
            </a:pPr>
            <a:r>
              <a:rPr lang="en-US" sz="1200" b="1" dirty="0"/>
              <a:t>Feature: </a:t>
            </a:r>
            <a:r>
              <a:rPr lang="en-US" sz="1200" dirty="0"/>
              <a:t>Business Process Story</a:t>
            </a:r>
          </a:p>
          <a:p>
            <a:pPr lvl="1">
              <a:defRPr/>
            </a:pPr>
            <a:r>
              <a:rPr lang="en-US" sz="1200" b="1" dirty="0"/>
              <a:t>Scenario: </a:t>
            </a:r>
            <a:r>
              <a:rPr lang="en-US" sz="1200" dirty="0"/>
              <a:t>Header which describes the scenario you’re interested in</a:t>
            </a:r>
          </a:p>
          <a:p>
            <a:pPr lvl="1">
              <a:defRPr/>
            </a:pPr>
            <a:r>
              <a:rPr lang="en-US" sz="1200" b="1" dirty="0"/>
              <a:t>GIVEN </a:t>
            </a:r>
            <a:r>
              <a:rPr lang="en-US" sz="1200" dirty="0"/>
              <a:t>(describing the context)</a:t>
            </a:r>
          </a:p>
          <a:p>
            <a:pPr lvl="1">
              <a:defRPr/>
            </a:pPr>
            <a:r>
              <a:rPr lang="en-US" sz="1200" b="1" dirty="0"/>
              <a:t>WHEN </a:t>
            </a:r>
            <a:r>
              <a:rPr lang="en-US" sz="1200" dirty="0"/>
              <a:t>(describing the action)</a:t>
            </a:r>
          </a:p>
          <a:p>
            <a:pPr lvl="1">
              <a:defRPr/>
            </a:pPr>
            <a:r>
              <a:rPr lang="en-US" sz="1200" b="1" dirty="0"/>
              <a:t>THEN </a:t>
            </a:r>
            <a:r>
              <a:rPr lang="en-US" sz="1200" dirty="0"/>
              <a:t>(describing the outcome)</a:t>
            </a:r>
          </a:p>
          <a:p>
            <a:pPr>
              <a:defRPr/>
            </a:pPr>
            <a:r>
              <a:rPr lang="en-US" sz="1600" dirty="0"/>
              <a:t>Highlight:</a:t>
            </a:r>
          </a:p>
          <a:p>
            <a:pPr lvl="1">
              <a:defRPr/>
            </a:pPr>
            <a:r>
              <a:rPr lang="en-US" sz="1200" dirty="0"/>
              <a:t>Same as Precondition, Action and Outcome may also more than one, separate into different column</a:t>
            </a:r>
          </a:p>
          <a:p>
            <a:pPr lvl="1">
              <a:defRPr/>
            </a:pPr>
            <a:r>
              <a:rPr lang="en-US" sz="1200" dirty="0"/>
              <a:t>Target only group 1 single flow step into 1 case</a:t>
            </a:r>
          </a:p>
          <a:p>
            <a:pPr lvl="1">
              <a:defRPr/>
            </a:pPr>
            <a:r>
              <a:rPr lang="en-US" sz="1200" dirty="0"/>
              <a:t>All data value enter into the Data Value column, use “</a:t>
            </a:r>
            <a:r>
              <a:rPr lang="en-US" sz="1200" dirty="0">
                <a:solidFill>
                  <a:srgbClr val="FF0000"/>
                </a:solidFill>
              </a:rPr>
              <a:t>[ ]</a:t>
            </a:r>
            <a:r>
              <a:rPr lang="en-US" sz="1200" dirty="0"/>
              <a:t>” as the data variable</a:t>
            </a:r>
          </a:p>
          <a:p>
            <a:pPr lvl="2">
              <a:defRPr/>
            </a:pPr>
            <a:r>
              <a:rPr lang="en-US" sz="1200" dirty="0"/>
              <a:t>E.g.  </a:t>
            </a:r>
            <a:r>
              <a:rPr lang="en-US" sz="1200" dirty="0">
                <a:solidFill>
                  <a:srgbClr val="FF0000"/>
                </a:solidFill>
              </a:rPr>
              <a:t>[</a:t>
            </a:r>
            <a:r>
              <a:rPr lang="en-US" sz="1200" dirty="0"/>
              <a:t>MSG</a:t>
            </a:r>
            <a:r>
              <a:rPr lang="en-US" sz="1200" dirty="0">
                <a:solidFill>
                  <a:srgbClr val="FF0000"/>
                </a:solidFill>
              </a:rPr>
              <a:t>]:</a:t>
            </a:r>
            <a:r>
              <a:rPr lang="en-US" sz="1200" dirty="0"/>
              <a:t>MSG#164</a:t>
            </a: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762564" y="2008189"/>
            <a:ext cx="6134100" cy="477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16389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91000"/>
            <a:ext cx="8034338" cy="219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443" y="142210"/>
            <a:ext cx="8229600" cy="5080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Behavior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– 3/4</a:t>
            </a:r>
          </a:p>
        </p:txBody>
      </p:sp>
    </p:spTree>
    <p:extLst>
      <p:ext uri="{BB962C8B-B14F-4D97-AF65-F5344CB8AC3E}">
        <p14:creationId xmlns:p14="http://schemas.microsoft.com/office/powerpoint/2010/main" val="44954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443" y="2787806"/>
            <a:ext cx="11716572" cy="3166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443" y="142210"/>
            <a:ext cx="8229600" cy="5080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Behavior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– </a:t>
            </a:r>
            <a:r>
              <a:rPr lang="en-US" altLang="en-US" dirty="0">
                <a:cs typeface="Helvetica" panose="020B0604020202020204" pitchFamily="34" charset="0"/>
              </a:rPr>
              <a:t>4</a:t>
            </a:r>
            <a:r>
              <a:rPr lang="en-US" altLang="en-US" dirty="0" smtClean="0">
                <a:cs typeface="Helvetica" panose="020B0604020202020204" pitchFamily="34" charset="0"/>
              </a:rPr>
              <a:t>/4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04443" y="1025526"/>
            <a:ext cx="11716572" cy="1371986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000" dirty="0" smtClean="0"/>
              <a:t>Output View:  </a:t>
            </a:r>
          </a:p>
          <a:p>
            <a:pPr marL="0" indent="0">
              <a:buNone/>
              <a:defRPr/>
            </a:pPr>
            <a:r>
              <a:rPr lang="en-US" sz="2000" dirty="0" smtClean="0"/>
              <a:t>- Similar QC Import Format with BUC ID &amp; FR ID for Requirement Traceability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640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System UI Related </a:t>
            </a:r>
            <a:r>
              <a:rPr lang="en-US" dirty="0" smtClean="0"/>
              <a:t>Checking (1/4)</a:t>
            </a:r>
            <a:endParaRPr lang="en-US" altLang="en-US" dirty="0" smtClean="0">
              <a:cs typeface="Helvetica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42926"/>
          <a:stretch/>
        </p:blipFill>
        <p:spPr>
          <a:xfrm>
            <a:off x="285760" y="2547657"/>
            <a:ext cx="11531600" cy="3864294"/>
          </a:xfrm>
          <a:prstGeom prst="rect">
            <a:avLst/>
          </a:prstGeom>
        </p:spPr>
      </p:pic>
      <p:sp>
        <p:nvSpPr>
          <p:cNvPr id="6" name="Text Placeholder 2"/>
          <p:cNvSpPr txBox="1">
            <a:spLocks/>
          </p:cNvSpPr>
          <p:nvPr/>
        </p:nvSpPr>
        <p:spPr>
          <a:xfrm>
            <a:off x="265250" y="1998382"/>
            <a:ext cx="11565053" cy="549275"/>
          </a:xfrm>
          <a:prstGeom prst="rect">
            <a:avLst/>
          </a:prstGeom>
        </p:spPr>
        <p:txBody>
          <a:bodyPr vert="horz" lIns="95768" tIns="47884" rIns="95768" bIns="47884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/>
              <a:t>System </a:t>
            </a:r>
            <a:r>
              <a:rPr lang="en-US" sz="1800" b="1" u="sng" dirty="0" smtClean="0"/>
              <a:t>UI Case Input View – Create the UI Checking </a:t>
            </a:r>
            <a:r>
              <a:rPr lang="en-US" sz="1800" b="1" u="sng" dirty="0" smtClean="0"/>
              <a:t>Area</a:t>
            </a:r>
          </a:p>
          <a:p>
            <a:pPr lvl="1"/>
            <a:r>
              <a:rPr lang="en-US" altLang="en-US" sz="1400" dirty="0"/>
              <a:t>Design Doc Reference: </a:t>
            </a:r>
            <a:r>
              <a:rPr lang="en-US" altLang="en-US" sz="1400" dirty="0" smtClean="0"/>
              <a:t>UI Prototype (Initial Stage</a:t>
            </a:r>
            <a:r>
              <a:rPr lang="en-US" altLang="en-US" sz="1400" dirty="0"/>
              <a:t>), UI Functional </a:t>
            </a:r>
            <a:r>
              <a:rPr lang="en-US" altLang="en-US" sz="1400" dirty="0" smtClean="0"/>
              <a:t>Spec, Field </a:t>
            </a:r>
            <a:r>
              <a:rPr lang="en-US" altLang="en-US" sz="1400" dirty="0"/>
              <a:t>Spec, System Error Log List  </a:t>
            </a:r>
            <a:endParaRPr lang="en-US" sz="1800" dirty="0" smtClean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52307" y="867643"/>
            <a:ext cx="11657194" cy="1243553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System cases focus on different areas:</a:t>
            </a:r>
          </a:p>
          <a:p>
            <a:pPr>
              <a:buFontTx/>
              <a:buChar char="-"/>
            </a:pPr>
            <a:r>
              <a:rPr lang="en-US" b="1" dirty="0"/>
              <a:t>System UI Related Checking</a:t>
            </a:r>
          </a:p>
          <a:p>
            <a:pPr>
              <a:buFontTx/>
              <a:buChar char="-"/>
            </a:pPr>
            <a:r>
              <a:rPr lang="en-US" dirty="0"/>
              <a:t>Football Racing Business Operation Scenarios</a:t>
            </a:r>
          </a:p>
          <a:p>
            <a:pPr>
              <a:buFontTx/>
              <a:buChar char="-"/>
            </a:pPr>
            <a:r>
              <a:rPr lang="en-US" dirty="0"/>
              <a:t>R&amp;R Entitlement Checking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System Interface RR/PS Checking</a:t>
            </a:r>
          </a:p>
          <a:p>
            <a:pPr>
              <a:buFontTx/>
              <a:buChar char="-"/>
            </a:pPr>
            <a:r>
              <a:rPr lang="en-US" dirty="0"/>
              <a:t>Data </a:t>
            </a:r>
            <a:r>
              <a:rPr lang="en-US" dirty="0" err="1" smtClean="0"/>
              <a:t>Init</a:t>
            </a:r>
            <a:r>
              <a:rPr lang="en-US" dirty="0" smtClean="0"/>
              <a:t> Checking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47778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4078"/>
          <a:stretch/>
        </p:blipFill>
        <p:spPr>
          <a:xfrm>
            <a:off x="313964" y="1532421"/>
            <a:ext cx="7759519" cy="408779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System UI Related </a:t>
            </a:r>
            <a:r>
              <a:rPr lang="en-US" dirty="0" smtClean="0"/>
              <a:t>Checking (2/4)</a:t>
            </a:r>
            <a:endParaRPr lang="en-US" altLang="en-US" dirty="0" smtClean="0">
              <a:cs typeface="Helvetica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848" y="3275933"/>
            <a:ext cx="7505700" cy="3080261"/>
          </a:xfrm>
          <a:prstGeom prst="rect">
            <a:avLst/>
          </a:prstGeom>
        </p:spPr>
      </p:pic>
      <p:sp>
        <p:nvSpPr>
          <p:cNvPr id="7" name="Text Placeholder 2"/>
          <p:cNvSpPr txBox="1">
            <a:spLocks/>
          </p:cNvSpPr>
          <p:nvPr/>
        </p:nvSpPr>
        <p:spPr>
          <a:xfrm>
            <a:off x="186054" y="884125"/>
            <a:ext cx="11565053" cy="549275"/>
          </a:xfrm>
          <a:prstGeom prst="rect">
            <a:avLst/>
          </a:prstGeom>
        </p:spPr>
        <p:txBody>
          <a:bodyPr vert="horz" lIns="95768" tIns="47884" rIns="95768" bIns="47884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System </a:t>
            </a:r>
            <a:r>
              <a:rPr lang="en-US" sz="1800" dirty="0" smtClean="0"/>
              <a:t>UI Case Input View – Identify the checking focus – Data Validation, UI Control </a:t>
            </a:r>
            <a:r>
              <a:rPr lang="en-US" sz="1800" dirty="0" err="1" smtClean="0"/>
              <a:t>etc</a:t>
            </a:r>
            <a:endParaRPr lang="en-US" sz="1800" dirty="0" smtClean="0"/>
          </a:p>
          <a:p>
            <a:pPr lvl="1"/>
            <a:r>
              <a:rPr lang="en-US" altLang="en-US" sz="1400" dirty="0" smtClean="0"/>
              <a:t>Map with related UI Menu Path for Requirement Traceability</a:t>
            </a:r>
            <a:endParaRPr lang="en-US" alt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2842994" y="2798096"/>
            <a:ext cx="4534264" cy="391153"/>
          </a:xfrm>
          <a:prstGeom prst="rect">
            <a:avLst/>
          </a:prstGeom>
          <a:noFill/>
          <a:ln w="508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606848" y="3288270"/>
            <a:ext cx="7505700" cy="480843"/>
          </a:xfrm>
          <a:prstGeom prst="rect">
            <a:avLst/>
          </a:prstGeom>
          <a:noFill/>
          <a:ln w="508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53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5484" r="7596"/>
          <a:stretch/>
        </p:blipFill>
        <p:spPr>
          <a:xfrm>
            <a:off x="186054" y="1696556"/>
            <a:ext cx="11940524" cy="4280126"/>
          </a:xfrm>
          <a:prstGeom prst="rect">
            <a:avLst/>
          </a:prstGeom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251476" y="1138958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System </a:t>
            </a:r>
            <a:r>
              <a:rPr lang="en-US" sz="2400" dirty="0" smtClean="0"/>
              <a:t>UI Case Input View – Checking </a:t>
            </a:r>
            <a:r>
              <a:rPr lang="en-US" sz="2400" dirty="0"/>
              <a:t>F</a:t>
            </a:r>
            <a:r>
              <a:rPr lang="en-US" sz="2400" dirty="0" smtClean="0"/>
              <a:t>ocus Details</a:t>
            </a:r>
          </a:p>
          <a:p>
            <a:endParaRPr lang="en-US" alt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6054" y="116244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System UI Related </a:t>
            </a:r>
            <a:r>
              <a:rPr lang="en-US" dirty="0" smtClean="0"/>
              <a:t>Checking (3/4)</a:t>
            </a:r>
            <a:endParaRPr lang="en-US" altLang="en-US" dirty="0" smtClean="0"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780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27775"/>
          <a:stretch/>
        </p:blipFill>
        <p:spPr>
          <a:xfrm>
            <a:off x="179452" y="1383848"/>
            <a:ext cx="11730049" cy="4705814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System UI Related </a:t>
            </a:r>
            <a:r>
              <a:rPr lang="en-US" dirty="0" smtClean="0"/>
              <a:t>Checking (4/4)</a:t>
            </a:r>
            <a:endParaRPr lang="en-US" altLang="en-US" dirty="0" smtClean="0">
              <a:cs typeface="Helvetica" panose="020B0604020202020204" pitchFamily="34" charset="0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86054" y="884125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System </a:t>
            </a:r>
            <a:r>
              <a:rPr lang="en-US" sz="2400" dirty="0" smtClean="0"/>
              <a:t>UI Case Output View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3870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52307" y="908833"/>
            <a:ext cx="11657194" cy="1243553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System cases focus on different areas:</a:t>
            </a:r>
          </a:p>
          <a:p>
            <a:pPr>
              <a:buFontTx/>
              <a:buChar char="-"/>
            </a:pPr>
            <a:r>
              <a:rPr lang="en-US" dirty="0"/>
              <a:t>System UI Related Checking</a:t>
            </a:r>
          </a:p>
          <a:p>
            <a:pPr>
              <a:buFontTx/>
              <a:buChar char="-"/>
            </a:pPr>
            <a:r>
              <a:rPr lang="en-US" b="1" dirty="0"/>
              <a:t>Football Racing Business Operation Scenarios</a:t>
            </a:r>
          </a:p>
          <a:p>
            <a:pPr>
              <a:buFontTx/>
              <a:buChar char="-"/>
            </a:pPr>
            <a:r>
              <a:rPr lang="en-US" dirty="0"/>
              <a:t>R&amp;R Entitlement Checking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System Interface RR/PS Checking</a:t>
            </a:r>
          </a:p>
          <a:p>
            <a:pPr>
              <a:buFontTx/>
              <a:buChar char="-"/>
            </a:pPr>
            <a:r>
              <a:rPr lang="en-US" dirty="0"/>
              <a:t>Data </a:t>
            </a:r>
            <a:r>
              <a:rPr lang="en-US" dirty="0" err="1" smtClean="0"/>
              <a:t>Init</a:t>
            </a:r>
            <a:r>
              <a:rPr lang="en-US" dirty="0" smtClean="0"/>
              <a:t> Checking</a:t>
            </a:r>
            <a:endParaRPr lang="en-US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Football Racing Business Operation Scenarios</a:t>
            </a:r>
            <a:endParaRPr lang="en-US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86054" y="2315979"/>
            <a:ext cx="11565053" cy="6588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/>
              <a:t>Football Racing Business Operation Scenarios</a:t>
            </a:r>
          </a:p>
          <a:p>
            <a:pPr lvl="1">
              <a:defRPr/>
            </a:pPr>
            <a:r>
              <a:rPr lang="en-US" altLang="en-US" sz="1200" dirty="0"/>
              <a:t>Design Doc Reference: </a:t>
            </a:r>
            <a:r>
              <a:rPr lang="en-US" altLang="en-US" sz="1200" dirty="0" smtClean="0"/>
              <a:t>Business </a:t>
            </a:r>
            <a:r>
              <a:rPr lang="en-US" altLang="en-US" sz="1200" dirty="0"/>
              <a:t>&amp; Functional Requirement Doc, </a:t>
            </a:r>
            <a:r>
              <a:rPr lang="en-US" altLang="en-US" sz="1200" dirty="0" smtClean="0"/>
              <a:t>Product </a:t>
            </a:r>
            <a:r>
              <a:rPr lang="en-US" altLang="en-US" sz="1200" dirty="0"/>
              <a:t>Matrix, </a:t>
            </a:r>
            <a:r>
              <a:rPr lang="en-US" altLang="en-US" sz="1200" dirty="0" smtClean="0"/>
              <a:t>SOP from SP3d UAT Team</a:t>
            </a:r>
            <a:endParaRPr lang="en-US" sz="1200" dirty="0"/>
          </a:p>
          <a:p>
            <a:endParaRPr lang="en-US" alt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02" y="3138468"/>
            <a:ext cx="113347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R&amp;R Entitlement Checking</a:t>
            </a:r>
            <a:r>
              <a:rPr lang="en-US" dirty="0" smtClean="0"/>
              <a:t> (1/3)</a:t>
            </a:r>
            <a:endParaRPr lang="en-US" altLang="en-US" dirty="0" smtClean="0">
              <a:cs typeface="Helvetica" panose="020B0604020202020204" pitchFamily="34" charset="0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86054" y="1997405"/>
            <a:ext cx="11565053" cy="6588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/>
              <a:t>R&amp;R Entitlement </a:t>
            </a:r>
            <a:r>
              <a:rPr lang="en-US" sz="1800" b="1" u="sng" dirty="0" smtClean="0"/>
              <a:t>Checking Case Input </a:t>
            </a:r>
            <a:r>
              <a:rPr lang="en-US" sz="1800" b="1" u="sng" dirty="0" smtClean="0"/>
              <a:t>View</a:t>
            </a:r>
          </a:p>
          <a:p>
            <a:pPr lvl="1">
              <a:defRPr/>
            </a:pPr>
            <a:r>
              <a:rPr lang="en-US" altLang="en-US" sz="1200" dirty="0"/>
              <a:t>Design Doc Reference: </a:t>
            </a:r>
            <a:r>
              <a:rPr lang="en-US" altLang="en-US" sz="1200" dirty="0" err="1" smtClean="0"/>
              <a:t>RnR</a:t>
            </a:r>
            <a:r>
              <a:rPr lang="en-US" altLang="en-US" sz="1200" dirty="0" smtClean="0"/>
              <a:t> </a:t>
            </a:r>
            <a:r>
              <a:rPr lang="en-US" altLang="en-US" sz="1200" dirty="0"/>
              <a:t>Matrix, Field Spec, </a:t>
            </a:r>
            <a:r>
              <a:rPr lang="en-US" altLang="en-US" sz="1200" dirty="0" smtClean="0"/>
              <a:t>Data </a:t>
            </a:r>
            <a:r>
              <a:rPr lang="en-US" altLang="en-US" sz="1200" dirty="0" err="1"/>
              <a:t>Init</a:t>
            </a:r>
            <a:r>
              <a:rPr lang="en-US" altLang="en-US" sz="1200" dirty="0"/>
              <a:t> </a:t>
            </a:r>
            <a:r>
              <a:rPr lang="en-US" altLang="en-US" sz="1200" dirty="0" smtClean="0"/>
              <a:t>Files, </a:t>
            </a:r>
            <a:r>
              <a:rPr lang="en-US" sz="1200" dirty="0"/>
              <a:t>UI Functional Spec </a:t>
            </a:r>
            <a:endParaRPr lang="en-US" sz="1200" dirty="0"/>
          </a:p>
          <a:p>
            <a:endParaRPr lang="en-US" alt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547657"/>
            <a:ext cx="12110224" cy="3864294"/>
          </a:xfrm>
          <a:prstGeom prst="rect">
            <a:avLst/>
          </a:prstGeom>
        </p:spPr>
      </p:pic>
      <p:sp>
        <p:nvSpPr>
          <p:cNvPr id="7" name="Text Placeholder 2"/>
          <p:cNvSpPr txBox="1">
            <a:spLocks/>
          </p:cNvSpPr>
          <p:nvPr/>
        </p:nvSpPr>
        <p:spPr>
          <a:xfrm>
            <a:off x="279966" y="823116"/>
            <a:ext cx="11657194" cy="1243553"/>
          </a:xfrm>
          <a:prstGeom prst="rect">
            <a:avLst/>
          </a:prstGeom>
        </p:spPr>
        <p:txBody>
          <a:bodyPr vert="horz" lIns="95768" tIns="47884" rIns="95768" bIns="47884" numCol="2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System cases focus on different areas:</a:t>
            </a:r>
          </a:p>
          <a:p>
            <a:pPr>
              <a:buFontTx/>
              <a:buChar char="-"/>
            </a:pPr>
            <a:r>
              <a:rPr lang="en-US" dirty="0" smtClean="0"/>
              <a:t>System UI Related Checking</a:t>
            </a:r>
          </a:p>
          <a:p>
            <a:pPr>
              <a:buFontTx/>
              <a:buChar char="-"/>
            </a:pPr>
            <a:r>
              <a:rPr lang="en-US" dirty="0" smtClean="0"/>
              <a:t>Football Racing Business Operation Scenarios</a:t>
            </a:r>
          </a:p>
          <a:p>
            <a:pPr>
              <a:buFontTx/>
              <a:buChar char="-"/>
            </a:pPr>
            <a:r>
              <a:rPr lang="en-US" b="1" dirty="0" smtClean="0"/>
              <a:t>R&amp;R Entitlement Checking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System Interface RR/PS Checking</a:t>
            </a:r>
          </a:p>
          <a:p>
            <a:pPr>
              <a:buFontTx/>
              <a:buChar char="-"/>
            </a:pPr>
            <a:r>
              <a:rPr lang="en-US" dirty="0" smtClean="0"/>
              <a:t>Data </a:t>
            </a:r>
            <a:r>
              <a:rPr lang="en-US" dirty="0" err="1" smtClean="0"/>
              <a:t>Init</a:t>
            </a:r>
            <a:r>
              <a:rPr lang="en-US" dirty="0" smtClean="0"/>
              <a:t> Checking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033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706137"/>
            <a:ext cx="11906250" cy="4800824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R&amp;R Entitlement Checking</a:t>
            </a:r>
            <a:r>
              <a:rPr lang="en-US" dirty="0" smtClean="0"/>
              <a:t> (2/3)</a:t>
            </a:r>
            <a:endParaRPr lang="en-US" altLang="en-US" dirty="0" smtClean="0">
              <a:cs typeface="Helvetica" panose="020B0604020202020204" pitchFamily="34" charset="0"/>
            </a:endParaRPr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186054" y="884125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R&amp;R Entitlement Checking Case </a:t>
            </a:r>
            <a:r>
              <a:rPr lang="en-US" sz="2400" dirty="0" smtClean="0"/>
              <a:t>Input View </a:t>
            </a:r>
            <a:r>
              <a:rPr lang="en-US" sz="2400" dirty="0" smtClean="0"/>
              <a:t>– Checking </a:t>
            </a:r>
            <a:r>
              <a:rPr lang="en-US" sz="2400" dirty="0"/>
              <a:t>F</a:t>
            </a:r>
            <a:r>
              <a:rPr lang="en-US" sz="2400" dirty="0" smtClean="0"/>
              <a:t>ocus Details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6454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1" y="1972720"/>
            <a:ext cx="11896725" cy="4429125"/>
          </a:xfrm>
          <a:prstGeom prst="rect">
            <a:avLst/>
          </a:prstGeom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186054" y="884125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R&amp;R Entitlement Checking Case Output </a:t>
            </a:r>
            <a:r>
              <a:rPr lang="en-US" sz="2400" dirty="0" smtClean="0"/>
              <a:t>View</a:t>
            </a:r>
            <a:endParaRPr lang="en-US" alt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R&amp;R Entitlement Checking</a:t>
            </a:r>
            <a:r>
              <a:rPr lang="en-US" dirty="0" smtClean="0"/>
              <a:t> (3/3)</a:t>
            </a:r>
            <a:endParaRPr lang="en-US" altLang="en-US" dirty="0" smtClean="0"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8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52307" y="908833"/>
            <a:ext cx="11657194" cy="1274193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System cases focus on different areas:</a:t>
            </a:r>
          </a:p>
          <a:p>
            <a:pPr>
              <a:buFontTx/>
              <a:buChar char="-"/>
            </a:pPr>
            <a:r>
              <a:rPr lang="en-US" dirty="0" smtClean="0"/>
              <a:t>System UI Related Checking</a:t>
            </a:r>
            <a:endParaRPr lang="en-US" dirty="0"/>
          </a:p>
          <a:p>
            <a:pPr>
              <a:buFontTx/>
              <a:buChar char="-"/>
            </a:pPr>
            <a:r>
              <a:rPr lang="en-US" dirty="0" smtClean="0"/>
              <a:t>Football Racing Business Operation </a:t>
            </a:r>
            <a:r>
              <a:rPr lang="en-US" dirty="0" smtClean="0"/>
              <a:t>Scenarios</a:t>
            </a:r>
          </a:p>
          <a:p>
            <a:pPr>
              <a:buFontTx/>
              <a:buChar char="-"/>
            </a:pPr>
            <a:r>
              <a:rPr lang="en-US" dirty="0"/>
              <a:t>R&amp;R Entitlement Checking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b="1" dirty="0" smtClean="0"/>
              <a:t>System </a:t>
            </a:r>
            <a:r>
              <a:rPr lang="en-US" b="1" dirty="0" smtClean="0"/>
              <a:t>Interface RR/PS </a:t>
            </a:r>
            <a:r>
              <a:rPr lang="en-US" b="1" dirty="0" smtClean="0"/>
              <a:t>Checking</a:t>
            </a:r>
          </a:p>
          <a:p>
            <a:pPr>
              <a:buFontTx/>
              <a:buChar char="-"/>
            </a:pPr>
            <a:r>
              <a:rPr lang="en-US" dirty="0" smtClean="0"/>
              <a:t>Data </a:t>
            </a:r>
            <a:r>
              <a:rPr lang="en-US" dirty="0" err="1" smtClean="0"/>
              <a:t>Init</a:t>
            </a:r>
            <a:r>
              <a:rPr lang="en-US" dirty="0" smtClean="0"/>
              <a:t> Checking</a:t>
            </a:r>
            <a:endParaRPr lang="en-US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System Interface RR/PS </a:t>
            </a:r>
            <a:r>
              <a:rPr lang="en-US" dirty="0" smtClean="0"/>
              <a:t>Checking – (1/2)</a:t>
            </a:r>
            <a:endParaRPr lang="en-US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86054" y="2315979"/>
            <a:ext cx="11565053" cy="6588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/>
              <a:t>System Interface RR/PS Checking</a:t>
            </a:r>
          </a:p>
          <a:p>
            <a:pPr lvl="1">
              <a:defRPr/>
            </a:pPr>
            <a:r>
              <a:rPr lang="en-US" altLang="en-US" sz="1200" dirty="0" smtClean="0"/>
              <a:t>Design </a:t>
            </a:r>
            <a:r>
              <a:rPr lang="en-US" altLang="en-US" sz="1200" dirty="0"/>
              <a:t>Doc Reference: SIS, E2E SRS, System Error Log </a:t>
            </a:r>
            <a:r>
              <a:rPr lang="en-US" altLang="en-US" sz="1200" dirty="0" smtClean="0"/>
              <a:t>List</a:t>
            </a:r>
            <a:r>
              <a:rPr lang="en-US" altLang="en-US" sz="1200" dirty="0"/>
              <a:t>, System Component SRS</a:t>
            </a:r>
          </a:p>
          <a:p>
            <a:pPr marL="457200" lvl="1" indent="0">
              <a:buNone/>
              <a:defRPr/>
            </a:pPr>
            <a:endParaRPr lang="en-US" sz="1200" dirty="0"/>
          </a:p>
          <a:p>
            <a:endParaRPr lang="en-US" altLang="en-US" sz="1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47" y="2974876"/>
            <a:ext cx="10773833" cy="358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4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System Interface RR/PS </a:t>
            </a:r>
            <a:r>
              <a:rPr lang="en-US" dirty="0" smtClean="0"/>
              <a:t>Checking – (2/2)</a:t>
            </a:r>
            <a:endParaRPr lang="en-US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186054" y="1227580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System Interface RR/PS </a:t>
            </a:r>
            <a:r>
              <a:rPr lang="en-US" sz="2400" dirty="0" smtClean="0"/>
              <a:t>Checking Case </a:t>
            </a:r>
            <a:r>
              <a:rPr lang="en-US" sz="2400" dirty="0"/>
              <a:t>Output </a:t>
            </a:r>
            <a:r>
              <a:rPr lang="en-US" sz="2400" dirty="0" smtClean="0"/>
              <a:t>View</a:t>
            </a:r>
            <a:endParaRPr lang="en-US" alt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2" y="1966263"/>
            <a:ext cx="11432445" cy="387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52307" y="908833"/>
            <a:ext cx="11657194" cy="1274193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System cases focus on different areas:</a:t>
            </a:r>
          </a:p>
          <a:p>
            <a:pPr>
              <a:buFontTx/>
              <a:buChar char="-"/>
            </a:pPr>
            <a:r>
              <a:rPr lang="en-US" dirty="0" smtClean="0"/>
              <a:t>System UI Related Checking</a:t>
            </a:r>
            <a:endParaRPr lang="en-US" dirty="0"/>
          </a:p>
          <a:p>
            <a:pPr>
              <a:buFontTx/>
              <a:buChar char="-"/>
            </a:pPr>
            <a:r>
              <a:rPr lang="en-US" dirty="0" smtClean="0"/>
              <a:t>Football Racing Business Operation </a:t>
            </a:r>
            <a:r>
              <a:rPr lang="en-US" dirty="0" smtClean="0"/>
              <a:t>Scenarios</a:t>
            </a:r>
          </a:p>
          <a:p>
            <a:pPr>
              <a:buFontTx/>
              <a:buChar char="-"/>
            </a:pPr>
            <a:r>
              <a:rPr lang="en-US" dirty="0"/>
              <a:t>R&amp;R Entitlement Checking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System </a:t>
            </a:r>
            <a:r>
              <a:rPr lang="en-US" dirty="0" smtClean="0"/>
              <a:t>Interface RR/PS </a:t>
            </a:r>
            <a:r>
              <a:rPr lang="en-US" dirty="0" smtClean="0"/>
              <a:t>Checking</a:t>
            </a:r>
          </a:p>
          <a:p>
            <a:pPr>
              <a:buFontTx/>
              <a:buChar char="-"/>
            </a:pPr>
            <a:r>
              <a:rPr lang="en-US" b="1" dirty="0" smtClean="0"/>
              <a:t>Data </a:t>
            </a:r>
            <a:r>
              <a:rPr lang="en-US" b="1" dirty="0" err="1" smtClean="0"/>
              <a:t>Init</a:t>
            </a:r>
            <a:r>
              <a:rPr lang="en-US" b="1" dirty="0" smtClean="0"/>
              <a:t> Checking</a:t>
            </a:r>
            <a:endParaRPr lang="en-US" b="1" dirty="0" smtClean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Data </a:t>
            </a:r>
            <a:r>
              <a:rPr lang="en-US" dirty="0" err="1"/>
              <a:t>Init</a:t>
            </a:r>
            <a:r>
              <a:rPr lang="en-US" dirty="0"/>
              <a:t> </a:t>
            </a:r>
            <a:r>
              <a:rPr lang="en-US" dirty="0" smtClean="0"/>
              <a:t>Checking – (1/2)</a:t>
            </a:r>
            <a:endParaRPr lang="en-US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186054" y="2192552"/>
            <a:ext cx="11565053" cy="791850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u="sng" dirty="0"/>
              <a:t>Data </a:t>
            </a:r>
            <a:r>
              <a:rPr lang="en-US" sz="1800" b="1" u="sng" dirty="0" err="1"/>
              <a:t>Init</a:t>
            </a:r>
            <a:r>
              <a:rPr lang="en-US" sz="1800" b="1" u="sng" dirty="0"/>
              <a:t> Checking</a:t>
            </a:r>
          </a:p>
          <a:p>
            <a:pPr lvl="1">
              <a:defRPr/>
            </a:pPr>
            <a:r>
              <a:rPr lang="en-US" altLang="en-US" sz="1400" dirty="0" smtClean="0"/>
              <a:t>Design </a:t>
            </a:r>
            <a:r>
              <a:rPr lang="en-US" altLang="en-US" sz="1400" dirty="0"/>
              <a:t>Doc Reference: </a:t>
            </a:r>
            <a:r>
              <a:rPr lang="en-US" altLang="en-US" sz="1400" dirty="0" smtClean="0"/>
              <a:t>Data </a:t>
            </a:r>
            <a:r>
              <a:rPr lang="en-US" altLang="en-US" sz="1400" dirty="0" err="1"/>
              <a:t>I</a:t>
            </a:r>
            <a:r>
              <a:rPr lang="en-US" altLang="en-US" sz="1400" dirty="0" err="1" smtClean="0"/>
              <a:t>nit</a:t>
            </a:r>
            <a:r>
              <a:rPr lang="en-US" altLang="en-US" sz="1400" dirty="0" smtClean="0"/>
              <a:t> Files</a:t>
            </a:r>
            <a:endParaRPr lang="en-US" altLang="en-US" sz="1400" dirty="0"/>
          </a:p>
          <a:p>
            <a:pPr marL="457200" lvl="1" indent="0">
              <a:buNone/>
              <a:defRPr/>
            </a:pPr>
            <a:endParaRPr lang="en-US" sz="1200" dirty="0"/>
          </a:p>
          <a:p>
            <a:endParaRPr lang="en-US" alt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11" y="2974876"/>
            <a:ext cx="10584704" cy="353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9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86054" y="105093"/>
            <a:ext cx="11723447" cy="508000"/>
          </a:xfrm>
          <a:prstGeom prst="rect">
            <a:avLst/>
          </a:prstGeom>
        </p:spPr>
        <p:txBody>
          <a:bodyPr vert="horz" lIns="95768" tIns="47884" rIns="95768" bIns="47884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kern="1200">
                <a:solidFill>
                  <a:schemeClr val="bg1"/>
                </a:solidFill>
                <a:latin typeface="+mj-lt"/>
                <a:ea typeface="+mj-ea"/>
                <a:cs typeface="Helvetica"/>
              </a:defRPr>
            </a:lvl1pPr>
          </a:lstStyle>
          <a:p>
            <a:r>
              <a:rPr kumimoji="1" lang="en-US" altLang="zh-TW" dirty="0" smtClean="0"/>
              <a:t>System Test Case </a:t>
            </a:r>
            <a:r>
              <a:rPr lang="en-US" altLang="zh-TW" dirty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- </a:t>
            </a:r>
            <a:r>
              <a:rPr lang="en-US" dirty="0"/>
              <a:t>Data </a:t>
            </a:r>
            <a:r>
              <a:rPr lang="en-US" dirty="0" err="1"/>
              <a:t>Init</a:t>
            </a:r>
            <a:r>
              <a:rPr lang="en-US" dirty="0"/>
              <a:t> Checking – </a:t>
            </a:r>
            <a:r>
              <a:rPr lang="en-US" dirty="0" smtClean="0"/>
              <a:t>(2/2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7" name="Text Placeholder 2"/>
          <p:cNvSpPr txBox="1">
            <a:spLocks/>
          </p:cNvSpPr>
          <p:nvPr/>
        </p:nvSpPr>
        <p:spPr>
          <a:xfrm>
            <a:off x="186054" y="1227580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Data </a:t>
            </a:r>
            <a:r>
              <a:rPr lang="en-US" sz="2400" dirty="0" err="1"/>
              <a:t>Init</a:t>
            </a:r>
            <a:r>
              <a:rPr lang="en-US" sz="2400" dirty="0"/>
              <a:t> Checking Case Output </a:t>
            </a:r>
            <a:r>
              <a:rPr lang="en-US" sz="2400" dirty="0" smtClean="0"/>
              <a:t>View</a:t>
            </a:r>
            <a:endParaRPr lang="en-US" alt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4" y="2314034"/>
            <a:ext cx="11674239" cy="359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 smtClean="0"/>
              <a:t>Non-Functional Test </a:t>
            </a:r>
            <a:r>
              <a:rPr kumimoji="1" lang="en-US" altLang="zh-TW" dirty="0"/>
              <a:t>Case </a:t>
            </a:r>
            <a:r>
              <a:rPr lang="en-US" altLang="zh-TW" dirty="0" smtClean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– (1/4)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52307" y="908833"/>
            <a:ext cx="11657194" cy="1274193"/>
          </a:xfrm>
        </p:spPr>
        <p:txBody>
          <a:bodyPr numCol="1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Non-Functional </a:t>
            </a:r>
            <a:r>
              <a:rPr lang="en-US" sz="2400" dirty="0" smtClean="0"/>
              <a:t>Testing - Focus </a:t>
            </a:r>
            <a:r>
              <a:rPr lang="en-US" sz="2400" dirty="0" smtClean="0"/>
              <a:t>on different areas</a:t>
            </a:r>
            <a:r>
              <a:rPr lang="en-US" sz="2400" dirty="0" smtClean="0"/>
              <a:t>:</a:t>
            </a:r>
          </a:p>
          <a:p>
            <a:pPr marL="742950" lvl="2" indent="-285750">
              <a:spcBef>
                <a:spcPts val="1000"/>
              </a:spcBef>
            </a:pPr>
            <a:r>
              <a:rPr lang="en-US" altLang="en-US" sz="2000" dirty="0"/>
              <a:t>Design Doc Reference: </a:t>
            </a:r>
            <a:r>
              <a:rPr lang="en-US" altLang="en-US" sz="2000" dirty="0" smtClean="0"/>
              <a:t>NFR Requirement, System Component SRS, SDD, SCS, ITOG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sz="1900" b="1" u="sng" dirty="0"/>
              <a:t>Non-Functional Test Case </a:t>
            </a:r>
            <a:r>
              <a:rPr lang="en-US" sz="1900" b="1" u="sng" dirty="0" smtClean="0"/>
              <a:t>Input View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51" y="2183026"/>
            <a:ext cx="11381240" cy="420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6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 txBox="1">
            <a:spLocks/>
          </p:cNvSpPr>
          <p:nvPr/>
        </p:nvSpPr>
        <p:spPr>
          <a:xfrm>
            <a:off x="186054" y="884125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Non-Functional Test Case Input </a:t>
            </a:r>
            <a:r>
              <a:rPr lang="en-US" sz="2400" dirty="0" smtClean="0"/>
              <a:t>View </a:t>
            </a:r>
            <a:r>
              <a:rPr lang="en-US" sz="2400" dirty="0" smtClean="0"/>
              <a:t>– Checking </a:t>
            </a:r>
            <a:r>
              <a:rPr lang="en-US" sz="2400" dirty="0"/>
              <a:t>F</a:t>
            </a:r>
            <a:r>
              <a:rPr lang="en-US" sz="2400" dirty="0" smtClean="0"/>
              <a:t>ocus </a:t>
            </a:r>
            <a:r>
              <a:rPr lang="en-US" sz="2400" dirty="0" smtClean="0"/>
              <a:t>Details (Part 1)</a:t>
            </a:r>
            <a:endParaRPr lang="en-US" sz="2400" dirty="0" smtClean="0"/>
          </a:p>
          <a:p>
            <a:endParaRPr lang="en-US" alt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9" y="1933668"/>
            <a:ext cx="11420475" cy="379879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7481" y="112078"/>
            <a:ext cx="10972801" cy="5080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 smtClean="0"/>
              <a:t>Non-Functional Test </a:t>
            </a:r>
            <a:r>
              <a:rPr kumimoji="1" lang="en-US" altLang="zh-TW" dirty="0"/>
              <a:t>Case </a:t>
            </a:r>
            <a:r>
              <a:rPr lang="en-US" altLang="zh-TW" dirty="0" smtClean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– (2/4)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 txBox="1">
            <a:spLocks/>
          </p:cNvSpPr>
          <p:nvPr/>
        </p:nvSpPr>
        <p:spPr>
          <a:xfrm>
            <a:off x="186054" y="884125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Non-Functional Test Case Input </a:t>
            </a:r>
            <a:r>
              <a:rPr lang="en-US" sz="2400" dirty="0" smtClean="0"/>
              <a:t>View </a:t>
            </a:r>
            <a:r>
              <a:rPr lang="en-US" sz="2400" dirty="0" smtClean="0"/>
              <a:t>– Checking </a:t>
            </a:r>
            <a:r>
              <a:rPr lang="en-US" sz="2400" dirty="0"/>
              <a:t>F</a:t>
            </a:r>
            <a:r>
              <a:rPr lang="en-US" sz="2400" dirty="0" smtClean="0"/>
              <a:t>ocus </a:t>
            </a:r>
            <a:r>
              <a:rPr lang="en-US" sz="2400" dirty="0" smtClean="0"/>
              <a:t>Details (Part 2)</a:t>
            </a:r>
            <a:endParaRPr lang="en-US" sz="2400" dirty="0" smtClean="0"/>
          </a:p>
          <a:p>
            <a:endParaRPr lang="en-US" altLang="en-US" sz="24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7481" y="112078"/>
            <a:ext cx="10972801" cy="5080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 smtClean="0"/>
              <a:t>Non-Functional Test </a:t>
            </a:r>
            <a:r>
              <a:rPr kumimoji="1" lang="en-US" altLang="zh-TW" dirty="0"/>
              <a:t>Case </a:t>
            </a:r>
            <a:r>
              <a:rPr lang="en-US" altLang="zh-TW" dirty="0" smtClean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– (3/4)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724329"/>
            <a:ext cx="11512550" cy="395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1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2" y="1812047"/>
            <a:ext cx="10744200" cy="4585577"/>
          </a:xfrm>
          <a:prstGeom prst="rect">
            <a:avLst/>
          </a:prstGeom>
        </p:spPr>
      </p:pic>
      <p:sp>
        <p:nvSpPr>
          <p:cNvPr id="5" name="Text Placeholder 2"/>
          <p:cNvSpPr txBox="1">
            <a:spLocks/>
          </p:cNvSpPr>
          <p:nvPr/>
        </p:nvSpPr>
        <p:spPr>
          <a:xfrm>
            <a:off x="186054" y="1150998"/>
            <a:ext cx="11565053" cy="1322097"/>
          </a:xfrm>
          <a:prstGeom prst="rect">
            <a:avLst/>
          </a:prstGeom>
        </p:spPr>
        <p:txBody>
          <a:bodyPr vert="horz" lIns="95768" tIns="47884" rIns="95768" bIns="4788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Non-Functional Test Case </a:t>
            </a:r>
            <a:r>
              <a:rPr lang="en-US" sz="2400" dirty="0" smtClean="0"/>
              <a:t>Output View</a:t>
            </a:r>
            <a:endParaRPr lang="en-US" altLang="en-US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481" y="112078"/>
            <a:ext cx="10972801" cy="50800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 smtClean="0"/>
              <a:t>Non-Functional Test </a:t>
            </a:r>
            <a:r>
              <a:rPr kumimoji="1" lang="en-US" altLang="zh-TW" dirty="0"/>
              <a:t>Case </a:t>
            </a:r>
            <a:r>
              <a:rPr lang="en-US" altLang="zh-TW" dirty="0" smtClean="0">
                <a:cs typeface="Helvetica" panose="020B0604020202020204" pitchFamily="34" charset="0"/>
              </a:rPr>
              <a:t>C</a:t>
            </a:r>
            <a:r>
              <a:rPr lang="en-US" altLang="en-US" dirty="0" smtClean="0">
                <a:cs typeface="Helvetica" panose="020B0604020202020204" pitchFamily="34" charset="0"/>
              </a:rPr>
              <a:t>reation – (4/4)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10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Preparation From Testing Design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" y="1376864"/>
            <a:ext cx="11943715" cy="454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3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FAF293C984C8408189D70AECF32714" ma:contentTypeVersion="1" ma:contentTypeDescription="Create a new document." ma:contentTypeScope="" ma:versionID="19b805ef56d9f9380ad2248856321374">
  <xsd:schema xmlns:xsd="http://www.w3.org/2001/XMLSchema" xmlns:xs="http://www.w3.org/2001/XMLSchema" xmlns:p="http://schemas.microsoft.com/office/2006/metadata/properties" xmlns:ns2="http://schemas.microsoft.com/sharepoint/v4" targetNamespace="http://schemas.microsoft.com/office/2006/metadata/properties" ma:root="true" ma:fieldsID="ab8227420bbcde84fbf94b55ef4da77a" ns2:_=""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2ACBC3-499E-4EF9-A29E-D046DCE0ECC0}">
  <ds:schemaRefs>
    <ds:schemaRef ds:uri="http://schemas.microsoft.com/office/2006/documentManagement/types"/>
    <ds:schemaRef ds:uri="http://schemas.microsoft.com/sharepoint/v4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F87054-51E1-4D97-91CC-5198781BCE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1ABDF5-A2F9-41A2-BA80-BECFF904315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39506</TotalTime>
  <Words>1316</Words>
  <Application>Microsoft Office PowerPoint</Application>
  <PresentationFormat>Widescreen</PresentationFormat>
  <Paragraphs>207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新細明體</vt:lpstr>
      <vt:lpstr>Arial</vt:lpstr>
      <vt:lpstr>Arial Narrow</vt:lpstr>
      <vt:lpstr>Calibri</vt:lpstr>
      <vt:lpstr>Calibri Light</vt:lpstr>
      <vt:lpstr>Helvetica</vt:lpstr>
      <vt:lpstr>2_Office Theme</vt:lpstr>
      <vt:lpstr>SP3d – FO1.2b Test Case Design Flow</vt:lpstr>
      <vt:lpstr>Test Design Team Deliverables</vt:lpstr>
      <vt:lpstr>Test Design Example – Different Test Cases Type</vt:lpstr>
      <vt:lpstr>Behavior Test Case Creation – 1/4</vt:lpstr>
      <vt:lpstr>Behavior Test Case Creation – 2/4</vt:lpstr>
      <vt:lpstr>Behavior Test Case Creation – 3/4</vt:lpstr>
      <vt:lpstr>Behavior Test Case Creation – 4/4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Non-Functional Test Case Creation – (1/4)</vt:lpstr>
      <vt:lpstr>Non-Functional Test Case Creation – (2/4)</vt:lpstr>
      <vt:lpstr>Non-Functional Test Case Creation – (3/4)</vt:lpstr>
      <vt:lpstr>Non-Functional Test Case Creation – (4/4)</vt:lpstr>
      <vt:lpstr>Data Preparation From Testing Design</vt:lpstr>
    </vt:vector>
  </TitlesOfParts>
  <Company>Accenture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SP3d PMU1 SAT Weekly Test Report</dc:title>
  <dc:creator>yvonne.ml.chau@hkjc.org.hk</dc:creator>
  <cp:lastModifiedBy>YAN, Tiga O K</cp:lastModifiedBy>
  <cp:revision>1347</cp:revision>
  <cp:lastPrinted>2016-08-05T09:45:48Z</cp:lastPrinted>
  <dcterms:created xsi:type="dcterms:W3CDTF">2016-01-15T07:14:34Z</dcterms:created>
  <dcterms:modified xsi:type="dcterms:W3CDTF">2019-12-23T11:29:21Z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0x0101007AFAF293C984C8408189D70AECF32714</vt:lpwstr>
  </property>
</Properties>
</file>